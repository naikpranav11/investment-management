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256" r:id="rId2"/>
    <p:sldId id="257" r:id="rId3"/>
  </p:sldIdLst>
  <p:sldSz cx="9144000" cy="5143500" type="screen16x9"/>
  <p:notesSz cx="9144000" cy="51435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D80"/>
    <a:srgbClr val="DBE4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4660"/>
  </p:normalViewPr>
  <p:slideViewPr>
    <p:cSldViewPr>
      <p:cViewPr varScale="1">
        <p:scale>
          <a:sx n="105" d="100"/>
          <a:sy n="105" d="100"/>
        </p:scale>
        <p:origin x="243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42654BF8-669C-4A7B-8E7E-21D24399430A}" type="datetimeFigureOut">
              <a:rPr lang="en-AU" smtClean="0"/>
              <a:t>9/01/2025</a:t>
            </a:fld>
            <a:endParaRPr lang="en-AU"/>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0B4054E1-34BD-4C1E-9CE8-D6ACFAB52844}" type="slidenum">
              <a:rPr lang="en-AU" smtClean="0"/>
              <a:t>‹#›</a:t>
            </a:fld>
            <a:endParaRPr lang="en-AU"/>
          </a:p>
        </p:txBody>
      </p:sp>
    </p:spTree>
    <p:extLst>
      <p:ext uri="{BB962C8B-B14F-4D97-AF65-F5344CB8AC3E}">
        <p14:creationId xmlns:p14="http://schemas.microsoft.com/office/powerpoint/2010/main" val="275514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4054E1-34BD-4C1E-9CE8-D6ACFAB52844}" type="slidenum">
              <a:rPr lang="en-AU" smtClean="0"/>
              <a:t>2</a:t>
            </a:fld>
            <a:endParaRPr lang="en-AU"/>
          </a:p>
        </p:txBody>
      </p:sp>
    </p:spTree>
    <p:extLst>
      <p:ext uri="{BB962C8B-B14F-4D97-AF65-F5344CB8AC3E}">
        <p14:creationId xmlns:p14="http://schemas.microsoft.com/office/powerpoint/2010/main" val="3966083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94D8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rgbClr val="415363"/>
                </a:solidFill>
                <a:latin typeface="Arial"/>
                <a:cs typeface="Arial"/>
              </a:defRPr>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94D80"/>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94D80"/>
                </a:solidFill>
                <a:latin typeface="Arial"/>
                <a:cs typeface="Arial"/>
              </a:defRPr>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04B791F-A22B-4615-B54D-01D2390C8C69}"/>
              </a:ext>
            </a:extLst>
          </p:cNvPr>
          <p:cNvGraphicFramePr>
            <a:graphicFrameLocks noChangeAspect="1"/>
          </p:cNvGraphicFramePr>
          <p:nvPr userDrawn="1">
            <p:custDataLst>
              <p:tags r:id="rId7"/>
            </p:custDataLst>
            <p:extLst>
              <p:ext uri="{D42A27DB-BD31-4B8C-83A1-F6EECF244321}">
                <p14:modId xmlns:p14="http://schemas.microsoft.com/office/powerpoint/2010/main" val="22716112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278" imgH="278" progId="TCLayout.ActiveDocument.1">
                  <p:embed/>
                </p:oleObj>
              </mc:Choice>
              <mc:Fallback>
                <p:oleObj name="think-cell Slide" r:id="rId8" imgW="278" imgH="278" progId="TCLayout.ActiveDocument.1">
                  <p:embed/>
                  <p:pic>
                    <p:nvPicPr>
                      <p:cNvPr id="0" name=""/>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6" name="bg object 16"/>
          <p:cNvSpPr/>
          <p:nvPr/>
        </p:nvSpPr>
        <p:spPr>
          <a:xfrm>
            <a:off x="0" y="4568952"/>
            <a:ext cx="9144000" cy="0"/>
          </a:xfrm>
          <a:custGeom>
            <a:avLst/>
            <a:gdLst/>
            <a:ahLst/>
            <a:cxnLst/>
            <a:rect l="l" t="t" r="r" b="b"/>
            <a:pathLst>
              <a:path w="9144000">
                <a:moveTo>
                  <a:pt x="0" y="0"/>
                </a:moveTo>
                <a:lnTo>
                  <a:pt x="9144000" y="0"/>
                </a:lnTo>
              </a:path>
            </a:pathLst>
          </a:custGeom>
          <a:ln w="9144">
            <a:solidFill>
              <a:srgbClr val="094D80"/>
            </a:solidFill>
          </a:ln>
        </p:spPr>
        <p:txBody>
          <a:bodyPr wrap="square" lIns="0" tIns="0" rIns="0" bIns="0" rtlCol="0"/>
          <a:lstStyle/>
          <a:p>
            <a:endParaRPr/>
          </a:p>
        </p:txBody>
      </p:sp>
      <p:sp>
        <p:nvSpPr>
          <p:cNvPr id="17" name="bg object 17"/>
          <p:cNvSpPr/>
          <p:nvPr/>
        </p:nvSpPr>
        <p:spPr>
          <a:xfrm>
            <a:off x="7531693" y="4669126"/>
            <a:ext cx="348615" cy="352425"/>
          </a:xfrm>
          <a:custGeom>
            <a:avLst/>
            <a:gdLst/>
            <a:ahLst/>
            <a:cxnLst/>
            <a:rect l="l" t="t" r="r" b="b"/>
            <a:pathLst>
              <a:path w="348615" h="352425">
                <a:moveTo>
                  <a:pt x="348370" y="0"/>
                </a:moveTo>
                <a:lnTo>
                  <a:pt x="0" y="0"/>
                </a:lnTo>
                <a:lnTo>
                  <a:pt x="0" y="352046"/>
                </a:lnTo>
                <a:lnTo>
                  <a:pt x="348370" y="352046"/>
                </a:lnTo>
                <a:lnTo>
                  <a:pt x="348370" y="0"/>
                </a:lnTo>
                <a:close/>
              </a:path>
            </a:pathLst>
          </a:custGeom>
          <a:solidFill>
            <a:srgbClr val="B72E2A"/>
          </a:solidFill>
        </p:spPr>
        <p:txBody>
          <a:bodyPr wrap="square" lIns="0" tIns="0" rIns="0" bIns="0" rtlCol="0"/>
          <a:lstStyle/>
          <a:p>
            <a:endParaRPr/>
          </a:p>
        </p:txBody>
      </p:sp>
      <p:pic>
        <p:nvPicPr>
          <p:cNvPr id="18" name="bg object 18"/>
          <p:cNvPicPr/>
          <p:nvPr/>
        </p:nvPicPr>
        <p:blipFill>
          <a:blip r:embed="rId10" cstate="print"/>
          <a:stretch>
            <a:fillRect/>
          </a:stretch>
        </p:blipFill>
        <p:spPr>
          <a:xfrm>
            <a:off x="7643787" y="4749304"/>
            <a:ext cx="125798" cy="204306"/>
          </a:xfrm>
          <a:prstGeom prst="rect">
            <a:avLst/>
          </a:prstGeom>
        </p:spPr>
      </p:pic>
      <p:sp>
        <p:nvSpPr>
          <p:cNvPr id="19" name="bg object 19"/>
          <p:cNvSpPr/>
          <p:nvPr/>
        </p:nvSpPr>
        <p:spPr>
          <a:xfrm>
            <a:off x="7941742" y="4724882"/>
            <a:ext cx="737870" cy="296545"/>
          </a:xfrm>
          <a:custGeom>
            <a:avLst/>
            <a:gdLst/>
            <a:ahLst/>
            <a:cxnLst/>
            <a:rect l="l" t="t" r="r" b="b"/>
            <a:pathLst>
              <a:path w="737870" h="296545">
                <a:moveTo>
                  <a:pt x="25806" y="256413"/>
                </a:moveTo>
                <a:lnTo>
                  <a:pt x="16535" y="256413"/>
                </a:lnTo>
                <a:lnTo>
                  <a:pt x="16535" y="295478"/>
                </a:lnTo>
                <a:lnTo>
                  <a:pt x="25806" y="295478"/>
                </a:lnTo>
                <a:lnTo>
                  <a:pt x="25806" y="256413"/>
                </a:lnTo>
                <a:close/>
              </a:path>
              <a:path w="737870" h="296545">
                <a:moveTo>
                  <a:pt x="83870" y="256006"/>
                </a:moveTo>
                <a:lnTo>
                  <a:pt x="74599" y="256006"/>
                </a:lnTo>
                <a:lnTo>
                  <a:pt x="74599" y="278384"/>
                </a:lnTo>
                <a:lnTo>
                  <a:pt x="60083" y="256006"/>
                </a:lnTo>
                <a:lnTo>
                  <a:pt x="50812" y="256006"/>
                </a:lnTo>
                <a:lnTo>
                  <a:pt x="50812" y="295478"/>
                </a:lnTo>
                <a:lnTo>
                  <a:pt x="60083" y="295478"/>
                </a:lnTo>
                <a:lnTo>
                  <a:pt x="60083" y="273100"/>
                </a:lnTo>
                <a:lnTo>
                  <a:pt x="74599" y="295478"/>
                </a:lnTo>
                <a:lnTo>
                  <a:pt x="83870" y="295478"/>
                </a:lnTo>
                <a:lnTo>
                  <a:pt x="83870" y="256006"/>
                </a:lnTo>
                <a:close/>
              </a:path>
              <a:path w="737870" h="296545">
                <a:moveTo>
                  <a:pt x="105244" y="24422"/>
                </a:moveTo>
                <a:lnTo>
                  <a:pt x="16535" y="24422"/>
                </a:lnTo>
                <a:lnTo>
                  <a:pt x="16535" y="85471"/>
                </a:lnTo>
                <a:lnTo>
                  <a:pt x="0" y="85471"/>
                </a:lnTo>
                <a:lnTo>
                  <a:pt x="0" y="105016"/>
                </a:lnTo>
                <a:lnTo>
                  <a:pt x="16535" y="105016"/>
                </a:lnTo>
                <a:lnTo>
                  <a:pt x="16535" y="116408"/>
                </a:lnTo>
                <a:lnTo>
                  <a:pt x="0" y="116408"/>
                </a:lnTo>
                <a:lnTo>
                  <a:pt x="0" y="135534"/>
                </a:lnTo>
                <a:lnTo>
                  <a:pt x="16535" y="135534"/>
                </a:lnTo>
                <a:lnTo>
                  <a:pt x="16535" y="196583"/>
                </a:lnTo>
                <a:lnTo>
                  <a:pt x="50812" y="196583"/>
                </a:lnTo>
                <a:lnTo>
                  <a:pt x="50812" y="135534"/>
                </a:lnTo>
                <a:lnTo>
                  <a:pt x="83070" y="135534"/>
                </a:lnTo>
                <a:lnTo>
                  <a:pt x="91541" y="116408"/>
                </a:lnTo>
                <a:lnTo>
                  <a:pt x="50812" y="116408"/>
                </a:lnTo>
                <a:lnTo>
                  <a:pt x="50812" y="105016"/>
                </a:lnTo>
                <a:lnTo>
                  <a:pt x="96774" y="105016"/>
                </a:lnTo>
                <a:lnTo>
                  <a:pt x="105244" y="85471"/>
                </a:lnTo>
                <a:lnTo>
                  <a:pt x="50812" y="85471"/>
                </a:lnTo>
                <a:lnTo>
                  <a:pt x="50812" y="52501"/>
                </a:lnTo>
                <a:lnTo>
                  <a:pt x="105244" y="52501"/>
                </a:lnTo>
                <a:lnTo>
                  <a:pt x="105244" y="24422"/>
                </a:lnTo>
                <a:close/>
              </a:path>
              <a:path w="737870" h="296545">
                <a:moveTo>
                  <a:pt x="132676" y="256006"/>
                </a:moveTo>
                <a:lnTo>
                  <a:pt x="105244" y="256006"/>
                </a:lnTo>
                <a:lnTo>
                  <a:pt x="105244" y="263740"/>
                </a:lnTo>
                <a:lnTo>
                  <a:pt x="114134" y="263740"/>
                </a:lnTo>
                <a:lnTo>
                  <a:pt x="114134" y="295478"/>
                </a:lnTo>
                <a:lnTo>
                  <a:pt x="123812" y="295478"/>
                </a:lnTo>
                <a:lnTo>
                  <a:pt x="123812" y="263740"/>
                </a:lnTo>
                <a:lnTo>
                  <a:pt x="132676" y="263740"/>
                </a:lnTo>
                <a:lnTo>
                  <a:pt x="132676" y="256006"/>
                </a:lnTo>
                <a:close/>
              </a:path>
              <a:path w="737870" h="296545">
                <a:moveTo>
                  <a:pt x="154444" y="85064"/>
                </a:moveTo>
                <a:lnTo>
                  <a:pt x="120154" y="85064"/>
                </a:lnTo>
                <a:lnTo>
                  <a:pt x="120154" y="196176"/>
                </a:lnTo>
                <a:lnTo>
                  <a:pt x="154444" y="196176"/>
                </a:lnTo>
                <a:lnTo>
                  <a:pt x="154444" y="85064"/>
                </a:lnTo>
                <a:close/>
              </a:path>
              <a:path w="737870" h="296545">
                <a:moveTo>
                  <a:pt x="155257" y="37858"/>
                </a:moveTo>
                <a:lnTo>
                  <a:pt x="153720" y="30937"/>
                </a:lnTo>
                <a:lnTo>
                  <a:pt x="149656" y="25234"/>
                </a:lnTo>
                <a:lnTo>
                  <a:pt x="143852" y="21374"/>
                </a:lnTo>
                <a:lnTo>
                  <a:pt x="137083" y="19951"/>
                </a:lnTo>
                <a:lnTo>
                  <a:pt x="130009" y="21551"/>
                </a:lnTo>
                <a:lnTo>
                  <a:pt x="124256" y="25742"/>
                </a:lnTo>
                <a:lnTo>
                  <a:pt x="120383" y="31623"/>
                </a:lnTo>
                <a:lnTo>
                  <a:pt x="118973" y="38265"/>
                </a:lnTo>
                <a:lnTo>
                  <a:pt x="120383" y="44907"/>
                </a:lnTo>
                <a:lnTo>
                  <a:pt x="124256" y="50774"/>
                </a:lnTo>
                <a:lnTo>
                  <a:pt x="130009" y="54978"/>
                </a:lnTo>
                <a:lnTo>
                  <a:pt x="137083" y="56578"/>
                </a:lnTo>
                <a:lnTo>
                  <a:pt x="144183" y="55029"/>
                </a:lnTo>
                <a:lnTo>
                  <a:pt x="149961" y="50876"/>
                </a:lnTo>
                <a:lnTo>
                  <a:pt x="153835" y="44907"/>
                </a:lnTo>
                <a:lnTo>
                  <a:pt x="155257" y="37858"/>
                </a:lnTo>
                <a:close/>
              </a:path>
              <a:path w="737870" h="296545">
                <a:moveTo>
                  <a:pt x="175412" y="256006"/>
                </a:moveTo>
                <a:lnTo>
                  <a:pt x="152831" y="256006"/>
                </a:lnTo>
                <a:lnTo>
                  <a:pt x="152831" y="295478"/>
                </a:lnTo>
                <a:lnTo>
                  <a:pt x="175412" y="295478"/>
                </a:lnTo>
                <a:lnTo>
                  <a:pt x="175412" y="287743"/>
                </a:lnTo>
                <a:lnTo>
                  <a:pt x="162509" y="287743"/>
                </a:lnTo>
                <a:lnTo>
                  <a:pt x="162509" y="279615"/>
                </a:lnTo>
                <a:lnTo>
                  <a:pt x="175412" y="279615"/>
                </a:lnTo>
                <a:lnTo>
                  <a:pt x="175412" y="271881"/>
                </a:lnTo>
                <a:lnTo>
                  <a:pt x="162509" y="271881"/>
                </a:lnTo>
                <a:lnTo>
                  <a:pt x="162509" y="263740"/>
                </a:lnTo>
                <a:lnTo>
                  <a:pt x="175412" y="263740"/>
                </a:lnTo>
                <a:lnTo>
                  <a:pt x="175412" y="256006"/>
                </a:lnTo>
                <a:close/>
              </a:path>
              <a:path w="737870" h="296545">
                <a:moveTo>
                  <a:pt x="228244" y="295478"/>
                </a:moveTo>
                <a:lnTo>
                  <a:pt x="219760" y="281241"/>
                </a:lnTo>
                <a:lnTo>
                  <a:pt x="221856" y="280428"/>
                </a:lnTo>
                <a:lnTo>
                  <a:pt x="225018" y="279196"/>
                </a:lnTo>
                <a:lnTo>
                  <a:pt x="227444" y="275132"/>
                </a:lnTo>
                <a:lnTo>
                  <a:pt x="227444" y="264960"/>
                </a:lnTo>
                <a:lnTo>
                  <a:pt x="227088" y="264147"/>
                </a:lnTo>
                <a:lnTo>
                  <a:pt x="225831" y="261289"/>
                </a:lnTo>
                <a:lnTo>
                  <a:pt x="222986" y="259257"/>
                </a:lnTo>
                <a:lnTo>
                  <a:pt x="220560" y="257225"/>
                </a:lnTo>
                <a:lnTo>
                  <a:pt x="217766" y="256286"/>
                </a:lnTo>
                <a:lnTo>
                  <a:pt x="217766" y="266179"/>
                </a:lnTo>
                <a:lnTo>
                  <a:pt x="217766" y="273100"/>
                </a:lnTo>
                <a:lnTo>
                  <a:pt x="215353" y="275132"/>
                </a:lnTo>
                <a:lnTo>
                  <a:pt x="208470" y="275132"/>
                </a:lnTo>
                <a:lnTo>
                  <a:pt x="208470" y="264147"/>
                </a:lnTo>
                <a:lnTo>
                  <a:pt x="215722" y="264147"/>
                </a:lnTo>
                <a:lnTo>
                  <a:pt x="217766" y="266179"/>
                </a:lnTo>
                <a:lnTo>
                  <a:pt x="217766" y="256286"/>
                </a:lnTo>
                <a:lnTo>
                  <a:pt x="216954" y="256006"/>
                </a:lnTo>
                <a:lnTo>
                  <a:pt x="199174" y="256006"/>
                </a:lnTo>
                <a:lnTo>
                  <a:pt x="199174" y="295478"/>
                </a:lnTo>
                <a:lnTo>
                  <a:pt x="208470" y="295478"/>
                </a:lnTo>
                <a:lnTo>
                  <a:pt x="208470" y="280428"/>
                </a:lnTo>
                <a:lnTo>
                  <a:pt x="216954" y="295478"/>
                </a:lnTo>
                <a:lnTo>
                  <a:pt x="228244" y="295478"/>
                </a:lnTo>
                <a:close/>
              </a:path>
              <a:path w="737870" h="296545">
                <a:moveTo>
                  <a:pt x="284251" y="24015"/>
                </a:moveTo>
                <a:lnTo>
                  <a:pt x="254368" y="24015"/>
                </a:lnTo>
                <a:lnTo>
                  <a:pt x="254368" y="140004"/>
                </a:lnTo>
                <a:lnTo>
                  <a:pt x="254368" y="140817"/>
                </a:lnTo>
                <a:lnTo>
                  <a:pt x="252577" y="153530"/>
                </a:lnTo>
                <a:lnTo>
                  <a:pt x="247180" y="164122"/>
                </a:lnTo>
                <a:lnTo>
                  <a:pt x="238455" y="171208"/>
                </a:lnTo>
                <a:lnTo>
                  <a:pt x="226631" y="173786"/>
                </a:lnTo>
                <a:lnTo>
                  <a:pt x="214617" y="171107"/>
                </a:lnTo>
                <a:lnTo>
                  <a:pt x="205905" y="163868"/>
                </a:lnTo>
                <a:lnTo>
                  <a:pt x="200583" y="153365"/>
                </a:lnTo>
                <a:lnTo>
                  <a:pt x="198793" y="140817"/>
                </a:lnTo>
                <a:lnTo>
                  <a:pt x="200520" y="128460"/>
                </a:lnTo>
                <a:lnTo>
                  <a:pt x="205638" y="117932"/>
                </a:lnTo>
                <a:lnTo>
                  <a:pt x="214096" y="110604"/>
                </a:lnTo>
                <a:lnTo>
                  <a:pt x="225831" y="107861"/>
                </a:lnTo>
                <a:lnTo>
                  <a:pt x="238467" y="110604"/>
                </a:lnTo>
                <a:lnTo>
                  <a:pt x="247294" y="117805"/>
                </a:lnTo>
                <a:lnTo>
                  <a:pt x="247408" y="117932"/>
                </a:lnTo>
                <a:lnTo>
                  <a:pt x="252679" y="128295"/>
                </a:lnTo>
                <a:lnTo>
                  <a:pt x="254368" y="140004"/>
                </a:lnTo>
                <a:lnTo>
                  <a:pt x="254368" y="24015"/>
                </a:lnTo>
                <a:lnTo>
                  <a:pt x="253238" y="24015"/>
                </a:lnTo>
                <a:lnTo>
                  <a:pt x="253238" y="99314"/>
                </a:lnTo>
                <a:lnTo>
                  <a:pt x="252806" y="99314"/>
                </a:lnTo>
                <a:lnTo>
                  <a:pt x="244894" y="90843"/>
                </a:lnTo>
                <a:lnTo>
                  <a:pt x="236639" y="85318"/>
                </a:lnTo>
                <a:lnTo>
                  <a:pt x="227711" y="82308"/>
                </a:lnTo>
                <a:lnTo>
                  <a:pt x="217766" y="81407"/>
                </a:lnTo>
                <a:lnTo>
                  <a:pt x="196253" y="86207"/>
                </a:lnTo>
                <a:lnTo>
                  <a:pt x="179984" y="99110"/>
                </a:lnTo>
                <a:lnTo>
                  <a:pt x="169697" y="117805"/>
                </a:lnTo>
                <a:lnTo>
                  <a:pt x="166116" y="140004"/>
                </a:lnTo>
                <a:lnTo>
                  <a:pt x="169875" y="162280"/>
                </a:lnTo>
                <a:lnTo>
                  <a:pt x="180479" y="181114"/>
                </a:lnTo>
                <a:lnTo>
                  <a:pt x="196900" y="194157"/>
                </a:lnTo>
                <a:lnTo>
                  <a:pt x="218147" y="199021"/>
                </a:lnTo>
                <a:lnTo>
                  <a:pt x="228473" y="197993"/>
                </a:lnTo>
                <a:lnTo>
                  <a:pt x="238074" y="194703"/>
                </a:lnTo>
                <a:lnTo>
                  <a:pt x="246684" y="188899"/>
                </a:lnTo>
                <a:lnTo>
                  <a:pt x="254050" y="180301"/>
                </a:lnTo>
                <a:lnTo>
                  <a:pt x="254419" y="180301"/>
                </a:lnTo>
                <a:lnTo>
                  <a:pt x="254419" y="196176"/>
                </a:lnTo>
                <a:lnTo>
                  <a:pt x="284251" y="196176"/>
                </a:lnTo>
                <a:lnTo>
                  <a:pt x="284251" y="180301"/>
                </a:lnTo>
                <a:lnTo>
                  <a:pt x="284251" y="173786"/>
                </a:lnTo>
                <a:lnTo>
                  <a:pt x="284251" y="107861"/>
                </a:lnTo>
                <a:lnTo>
                  <a:pt x="284251" y="99314"/>
                </a:lnTo>
                <a:lnTo>
                  <a:pt x="284251" y="24015"/>
                </a:lnTo>
                <a:close/>
              </a:path>
              <a:path w="737870" h="296545">
                <a:moveTo>
                  <a:pt x="284683" y="256006"/>
                </a:moveTo>
                <a:lnTo>
                  <a:pt x="275386" y="256006"/>
                </a:lnTo>
                <a:lnTo>
                  <a:pt x="275386" y="278384"/>
                </a:lnTo>
                <a:lnTo>
                  <a:pt x="261302" y="256006"/>
                </a:lnTo>
                <a:lnTo>
                  <a:pt x="251625" y="256006"/>
                </a:lnTo>
                <a:lnTo>
                  <a:pt x="251625" y="295478"/>
                </a:lnTo>
                <a:lnTo>
                  <a:pt x="261302" y="295478"/>
                </a:lnTo>
                <a:lnTo>
                  <a:pt x="261302" y="273100"/>
                </a:lnTo>
                <a:lnTo>
                  <a:pt x="275386" y="295478"/>
                </a:lnTo>
                <a:lnTo>
                  <a:pt x="284683" y="295478"/>
                </a:lnTo>
                <a:lnTo>
                  <a:pt x="284683" y="256006"/>
                </a:lnTo>
                <a:close/>
              </a:path>
              <a:path w="737870" h="296545">
                <a:moveTo>
                  <a:pt x="343547" y="295478"/>
                </a:moveTo>
                <a:lnTo>
                  <a:pt x="341680" y="289788"/>
                </a:lnTo>
                <a:lnTo>
                  <a:pt x="339153" y="282054"/>
                </a:lnTo>
                <a:lnTo>
                  <a:pt x="334365" y="267398"/>
                </a:lnTo>
                <a:lnTo>
                  <a:pt x="330644" y="256006"/>
                </a:lnTo>
                <a:lnTo>
                  <a:pt x="329031" y="256006"/>
                </a:lnTo>
                <a:lnTo>
                  <a:pt x="329031" y="282054"/>
                </a:lnTo>
                <a:lnTo>
                  <a:pt x="319735" y="282054"/>
                </a:lnTo>
                <a:lnTo>
                  <a:pt x="324573" y="267398"/>
                </a:lnTo>
                <a:lnTo>
                  <a:pt x="329031" y="282054"/>
                </a:lnTo>
                <a:lnTo>
                  <a:pt x="329031" y="256006"/>
                </a:lnTo>
                <a:lnTo>
                  <a:pt x="318554" y="256006"/>
                </a:lnTo>
                <a:lnTo>
                  <a:pt x="305650" y="295478"/>
                </a:lnTo>
                <a:lnTo>
                  <a:pt x="315696" y="295478"/>
                </a:lnTo>
                <a:lnTo>
                  <a:pt x="317309" y="289788"/>
                </a:lnTo>
                <a:lnTo>
                  <a:pt x="331444" y="289788"/>
                </a:lnTo>
                <a:lnTo>
                  <a:pt x="333057" y="295478"/>
                </a:lnTo>
                <a:lnTo>
                  <a:pt x="343547" y="295478"/>
                </a:lnTo>
                <a:close/>
              </a:path>
              <a:path w="737870" h="296545">
                <a:moveTo>
                  <a:pt x="386702" y="256006"/>
                </a:moveTo>
                <a:lnTo>
                  <a:pt x="359295" y="256006"/>
                </a:lnTo>
                <a:lnTo>
                  <a:pt x="359295" y="263740"/>
                </a:lnTo>
                <a:lnTo>
                  <a:pt x="368160" y="263740"/>
                </a:lnTo>
                <a:lnTo>
                  <a:pt x="368160" y="295478"/>
                </a:lnTo>
                <a:lnTo>
                  <a:pt x="377837" y="295478"/>
                </a:lnTo>
                <a:lnTo>
                  <a:pt x="377837" y="263740"/>
                </a:lnTo>
                <a:lnTo>
                  <a:pt x="386702" y="263740"/>
                </a:lnTo>
                <a:lnTo>
                  <a:pt x="386702" y="256006"/>
                </a:lnTo>
                <a:close/>
              </a:path>
              <a:path w="737870" h="296545">
                <a:moveTo>
                  <a:pt x="408470" y="140411"/>
                </a:moveTo>
                <a:lnTo>
                  <a:pt x="406527" y="129019"/>
                </a:lnTo>
                <a:lnTo>
                  <a:pt x="404291" y="115912"/>
                </a:lnTo>
                <a:lnTo>
                  <a:pt x="397433" y="105016"/>
                </a:lnTo>
                <a:lnTo>
                  <a:pt x="392595" y="97320"/>
                </a:lnTo>
                <a:lnTo>
                  <a:pt x="377405" y="87363"/>
                </a:lnTo>
                <a:lnTo>
                  <a:pt x="377405" y="129019"/>
                </a:lnTo>
                <a:lnTo>
                  <a:pt x="327418" y="129019"/>
                </a:lnTo>
                <a:lnTo>
                  <a:pt x="329857" y="119951"/>
                </a:lnTo>
                <a:lnTo>
                  <a:pt x="334873" y="112280"/>
                </a:lnTo>
                <a:lnTo>
                  <a:pt x="342607" y="106984"/>
                </a:lnTo>
                <a:lnTo>
                  <a:pt x="353212" y="105016"/>
                </a:lnTo>
                <a:lnTo>
                  <a:pt x="363131" y="107213"/>
                </a:lnTo>
                <a:lnTo>
                  <a:pt x="370471" y="112890"/>
                </a:lnTo>
                <a:lnTo>
                  <a:pt x="375234" y="120637"/>
                </a:lnTo>
                <a:lnTo>
                  <a:pt x="377405" y="129019"/>
                </a:lnTo>
                <a:lnTo>
                  <a:pt x="377405" y="87363"/>
                </a:lnTo>
                <a:lnTo>
                  <a:pt x="374624" y="85534"/>
                </a:lnTo>
                <a:lnTo>
                  <a:pt x="351612" y="81407"/>
                </a:lnTo>
                <a:lnTo>
                  <a:pt x="328587" y="85534"/>
                </a:lnTo>
                <a:lnTo>
                  <a:pt x="310616" y="97320"/>
                </a:lnTo>
                <a:lnTo>
                  <a:pt x="298919" y="115912"/>
                </a:lnTo>
                <a:lnTo>
                  <a:pt x="294741" y="140411"/>
                </a:lnTo>
                <a:lnTo>
                  <a:pt x="298919" y="164680"/>
                </a:lnTo>
                <a:lnTo>
                  <a:pt x="310616" y="183146"/>
                </a:lnTo>
                <a:lnTo>
                  <a:pt x="328587" y="194906"/>
                </a:lnTo>
                <a:lnTo>
                  <a:pt x="351612" y="199021"/>
                </a:lnTo>
                <a:lnTo>
                  <a:pt x="370039" y="196824"/>
                </a:lnTo>
                <a:lnTo>
                  <a:pt x="385584" y="190271"/>
                </a:lnTo>
                <a:lnTo>
                  <a:pt x="397649" y="179451"/>
                </a:lnTo>
                <a:lnTo>
                  <a:pt x="399796" y="175425"/>
                </a:lnTo>
                <a:lnTo>
                  <a:pt x="405625" y="164439"/>
                </a:lnTo>
                <a:lnTo>
                  <a:pt x="375412" y="161988"/>
                </a:lnTo>
                <a:lnTo>
                  <a:pt x="371373" y="167690"/>
                </a:lnTo>
                <a:lnTo>
                  <a:pt x="366128" y="171907"/>
                </a:lnTo>
                <a:lnTo>
                  <a:pt x="359981" y="174523"/>
                </a:lnTo>
                <a:lnTo>
                  <a:pt x="353212" y="175425"/>
                </a:lnTo>
                <a:lnTo>
                  <a:pt x="342214" y="173113"/>
                </a:lnTo>
                <a:lnTo>
                  <a:pt x="334416" y="167081"/>
                </a:lnTo>
                <a:lnTo>
                  <a:pt x="329565" y="158597"/>
                </a:lnTo>
                <a:lnTo>
                  <a:pt x="327418" y="148971"/>
                </a:lnTo>
                <a:lnTo>
                  <a:pt x="408470" y="148971"/>
                </a:lnTo>
                <a:lnTo>
                  <a:pt x="408470" y="140411"/>
                </a:lnTo>
                <a:close/>
              </a:path>
              <a:path w="737870" h="296545">
                <a:moveTo>
                  <a:pt x="421373" y="256413"/>
                </a:moveTo>
                <a:lnTo>
                  <a:pt x="411695" y="256413"/>
                </a:lnTo>
                <a:lnTo>
                  <a:pt x="411695" y="295478"/>
                </a:lnTo>
                <a:lnTo>
                  <a:pt x="421373" y="295478"/>
                </a:lnTo>
                <a:lnTo>
                  <a:pt x="421373" y="256413"/>
                </a:lnTo>
                <a:close/>
              </a:path>
              <a:path w="737870" h="296545">
                <a:moveTo>
                  <a:pt x="450773" y="24015"/>
                </a:moveTo>
                <a:lnTo>
                  <a:pt x="419328" y="24015"/>
                </a:lnTo>
                <a:lnTo>
                  <a:pt x="419328" y="196176"/>
                </a:lnTo>
                <a:lnTo>
                  <a:pt x="450773" y="196176"/>
                </a:lnTo>
                <a:lnTo>
                  <a:pt x="450773" y="24015"/>
                </a:lnTo>
                <a:close/>
              </a:path>
              <a:path w="737870" h="296545">
                <a:moveTo>
                  <a:pt x="484263" y="275945"/>
                </a:moveTo>
                <a:lnTo>
                  <a:pt x="482752" y="267792"/>
                </a:lnTo>
                <a:lnTo>
                  <a:pt x="480377" y="264147"/>
                </a:lnTo>
                <a:lnTo>
                  <a:pt x="478561" y="261340"/>
                </a:lnTo>
                <a:lnTo>
                  <a:pt x="474586" y="258711"/>
                </a:lnTo>
                <a:lnTo>
                  <a:pt x="474586" y="269430"/>
                </a:lnTo>
                <a:lnTo>
                  <a:pt x="474586" y="282460"/>
                </a:lnTo>
                <a:lnTo>
                  <a:pt x="469747" y="287337"/>
                </a:lnTo>
                <a:lnTo>
                  <a:pt x="457657" y="287337"/>
                </a:lnTo>
                <a:lnTo>
                  <a:pt x="452818" y="282460"/>
                </a:lnTo>
                <a:lnTo>
                  <a:pt x="452818" y="269024"/>
                </a:lnTo>
                <a:lnTo>
                  <a:pt x="457225" y="264147"/>
                </a:lnTo>
                <a:lnTo>
                  <a:pt x="470128" y="264147"/>
                </a:lnTo>
                <a:lnTo>
                  <a:pt x="474586" y="269430"/>
                </a:lnTo>
                <a:lnTo>
                  <a:pt x="474586" y="258711"/>
                </a:lnTo>
                <a:lnTo>
                  <a:pt x="472173" y="257111"/>
                </a:lnTo>
                <a:lnTo>
                  <a:pt x="464108" y="255600"/>
                </a:lnTo>
                <a:lnTo>
                  <a:pt x="458457" y="255600"/>
                </a:lnTo>
                <a:lnTo>
                  <a:pt x="453199" y="257225"/>
                </a:lnTo>
                <a:lnTo>
                  <a:pt x="449592" y="260883"/>
                </a:lnTo>
                <a:lnTo>
                  <a:pt x="445135" y="264960"/>
                </a:lnTo>
                <a:lnTo>
                  <a:pt x="443141" y="270243"/>
                </a:lnTo>
                <a:lnTo>
                  <a:pt x="443141" y="275945"/>
                </a:lnTo>
                <a:lnTo>
                  <a:pt x="444766" y="283933"/>
                </a:lnTo>
                <a:lnTo>
                  <a:pt x="449173" y="290398"/>
                </a:lnTo>
                <a:lnTo>
                  <a:pt x="455701" y="294716"/>
                </a:lnTo>
                <a:lnTo>
                  <a:pt x="463677" y="296291"/>
                </a:lnTo>
                <a:lnTo>
                  <a:pt x="471652" y="294716"/>
                </a:lnTo>
                <a:lnTo>
                  <a:pt x="478205" y="290398"/>
                </a:lnTo>
                <a:lnTo>
                  <a:pt x="480301" y="287337"/>
                </a:lnTo>
                <a:lnTo>
                  <a:pt x="482638" y="283933"/>
                </a:lnTo>
                <a:lnTo>
                  <a:pt x="484263" y="275945"/>
                </a:lnTo>
                <a:close/>
              </a:path>
              <a:path w="737870" h="296545">
                <a:moveTo>
                  <a:pt x="496785" y="84251"/>
                </a:moveTo>
                <a:lnTo>
                  <a:pt x="465721" y="84251"/>
                </a:lnTo>
                <a:lnTo>
                  <a:pt x="465721" y="196176"/>
                </a:lnTo>
                <a:lnTo>
                  <a:pt x="496785" y="196176"/>
                </a:lnTo>
                <a:lnTo>
                  <a:pt x="496785" y="84251"/>
                </a:lnTo>
                <a:close/>
              </a:path>
              <a:path w="737870" h="296545">
                <a:moveTo>
                  <a:pt x="499579" y="37858"/>
                </a:moveTo>
                <a:lnTo>
                  <a:pt x="498055" y="30937"/>
                </a:lnTo>
                <a:lnTo>
                  <a:pt x="493979" y="25234"/>
                </a:lnTo>
                <a:lnTo>
                  <a:pt x="488175" y="21374"/>
                </a:lnTo>
                <a:lnTo>
                  <a:pt x="481418" y="19951"/>
                </a:lnTo>
                <a:lnTo>
                  <a:pt x="474167" y="21551"/>
                </a:lnTo>
                <a:lnTo>
                  <a:pt x="468426" y="25742"/>
                </a:lnTo>
                <a:lnTo>
                  <a:pt x="464654" y="31623"/>
                </a:lnTo>
                <a:lnTo>
                  <a:pt x="463296" y="38265"/>
                </a:lnTo>
                <a:lnTo>
                  <a:pt x="464654" y="44907"/>
                </a:lnTo>
                <a:lnTo>
                  <a:pt x="468426" y="50774"/>
                </a:lnTo>
                <a:lnTo>
                  <a:pt x="474167" y="54978"/>
                </a:lnTo>
                <a:lnTo>
                  <a:pt x="481418" y="56578"/>
                </a:lnTo>
                <a:lnTo>
                  <a:pt x="488340" y="55029"/>
                </a:lnTo>
                <a:lnTo>
                  <a:pt x="494131" y="50876"/>
                </a:lnTo>
                <a:lnTo>
                  <a:pt x="498106" y="44907"/>
                </a:lnTo>
                <a:lnTo>
                  <a:pt x="499579" y="37858"/>
                </a:lnTo>
                <a:close/>
              </a:path>
              <a:path w="737870" h="296545">
                <a:moveTo>
                  <a:pt x="538276" y="256006"/>
                </a:moveTo>
                <a:lnTo>
                  <a:pt x="528612" y="256006"/>
                </a:lnTo>
                <a:lnTo>
                  <a:pt x="528612" y="278384"/>
                </a:lnTo>
                <a:lnTo>
                  <a:pt x="514527" y="256006"/>
                </a:lnTo>
                <a:lnTo>
                  <a:pt x="504850" y="256006"/>
                </a:lnTo>
                <a:lnTo>
                  <a:pt x="504850" y="295478"/>
                </a:lnTo>
                <a:lnTo>
                  <a:pt x="514527" y="295478"/>
                </a:lnTo>
                <a:lnTo>
                  <a:pt x="514527" y="273100"/>
                </a:lnTo>
                <a:lnTo>
                  <a:pt x="528612" y="295478"/>
                </a:lnTo>
                <a:lnTo>
                  <a:pt x="538276" y="295478"/>
                </a:lnTo>
                <a:lnTo>
                  <a:pt x="538276" y="256006"/>
                </a:lnTo>
                <a:close/>
              </a:path>
              <a:path w="737870" h="296545">
                <a:moveTo>
                  <a:pt x="570534" y="84251"/>
                </a:moveTo>
                <a:lnTo>
                  <a:pt x="554037" y="84251"/>
                </a:lnTo>
                <a:lnTo>
                  <a:pt x="554037" y="49250"/>
                </a:lnTo>
                <a:lnTo>
                  <a:pt x="522960" y="49250"/>
                </a:lnTo>
                <a:lnTo>
                  <a:pt x="522960" y="84251"/>
                </a:lnTo>
                <a:lnTo>
                  <a:pt x="508876" y="84251"/>
                </a:lnTo>
                <a:lnTo>
                  <a:pt x="508876" y="108267"/>
                </a:lnTo>
                <a:lnTo>
                  <a:pt x="522960" y="108267"/>
                </a:lnTo>
                <a:lnTo>
                  <a:pt x="522960" y="168097"/>
                </a:lnTo>
                <a:lnTo>
                  <a:pt x="525233" y="182968"/>
                </a:lnTo>
                <a:lnTo>
                  <a:pt x="531749" y="191897"/>
                </a:lnTo>
                <a:lnTo>
                  <a:pt x="542036" y="196253"/>
                </a:lnTo>
                <a:lnTo>
                  <a:pt x="555637" y="197396"/>
                </a:lnTo>
                <a:lnTo>
                  <a:pt x="560476" y="197396"/>
                </a:lnTo>
                <a:lnTo>
                  <a:pt x="565696" y="196583"/>
                </a:lnTo>
                <a:lnTo>
                  <a:pt x="570534" y="196176"/>
                </a:lnTo>
                <a:lnTo>
                  <a:pt x="570534" y="172161"/>
                </a:lnTo>
                <a:lnTo>
                  <a:pt x="570534" y="171348"/>
                </a:lnTo>
                <a:lnTo>
                  <a:pt x="568540" y="171754"/>
                </a:lnTo>
                <a:lnTo>
                  <a:pt x="566928" y="172161"/>
                </a:lnTo>
                <a:lnTo>
                  <a:pt x="556018" y="172161"/>
                </a:lnTo>
                <a:lnTo>
                  <a:pt x="554037" y="169722"/>
                </a:lnTo>
                <a:lnTo>
                  <a:pt x="554037" y="108267"/>
                </a:lnTo>
                <a:lnTo>
                  <a:pt x="570534" y="108267"/>
                </a:lnTo>
                <a:lnTo>
                  <a:pt x="570534" y="84251"/>
                </a:lnTo>
                <a:close/>
              </a:path>
              <a:path w="737870" h="296545">
                <a:moveTo>
                  <a:pt x="597141" y="295478"/>
                </a:moveTo>
                <a:lnTo>
                  <a:pt x="595274" y="289788"/>
                </a:lnTo>
                <a:lnTo>
                  <a:pt x="592747" y="282054"/>
                </a:lnTo>
                <a:lnTo>
                  <a:pt x="587959" y="267398"/>
                </a:lnTo>
                <a:lnTo>
                  <a:pt x="584238" y="256006"/>
                </a:lnTo>
                <a:lnTo>
                  <a:pt x="582625" y="256006"/>
                </a:lnTo>
                <a:lnTo>
                  <a:pt x="582625" y="282054"/>
                </a:lnTo>
                <a:lnTo>
                  <a:pt x="573379" y="282054"/>
                </a:lnTo>
                <a:lnTo>
                  <a:pt x="578218" y="267398"/>
                </a:lnTo>
                <a:lnTo>
                  <a:pt x="582625" y="282054"/>
                </a:lnTo>
                <a:lnTo>
                  <a:pt x="582625" y="256006"/>
                </a:lnTo>
                <a:lnTo>
                  <a:pt x="572147" y="256006"/>
                </a:lnTo>
                <a:lnTo>
                  <a:pt x="559244" y="295478"/>
                </a:lnTo>
                <a:lnTo>
                  <a:pt x="569353" y="295478"/>
                </a:lnTo>
                <a:lnTo>
                  <a:pt x="571334" y="289788"/>
                </a:lnTo>
                <a:lnTo>
                  <a:pt x="585050" y="289788"/>
                </a:lnTo>
                <a:lnTo>
                  <a:pt x="586663" y="295478"/>
                </a:lnTo>
                <a:lnTo>
                  <a:pt x="597141" y="295478"/>
                </a:lnTo>
                <a:close/>
              </a:path>
              <a:path w="737870" h="296545">
                <a:moveTo>
                  <a:pt x="640295" y="287743"/>
                </a:moveTo>
                <a:lnTo>
                  <a:pt x="627773" y="287743"/>
                </a:lnTo>
                <a:lnTo>
                  <a:pt x="627773" y="256006"/>
                </a:lnTo>
                <a:lnTo>
                  <a:pt x="618096" y="256006"/>
                </a:lnTo>
                <a:lnTo>
                  <a:pt x="618096" y="295478"/>
                </a:lnTo>
                <a:lnTo>
                  <a:pt x="640295" y="295478"/>
                </a:lnTo>
                <a:lnTo>
                  <a:pt x="640295" y="287743"/>
                </a:lnTo>
                <a:close/>
              </a:path>
              <a:path w="737870" h="296545">
                <a:moveTo>
                  <a:pt x="695121" y="84251"/>
                </a:moveTo>
                <a:lnTo>
                  <a:pt x="660882" y="84251"/>
                </a:lnTo>
                <a:lnTo>
                  <a:pt x="637501" y="158330"/>
                </a:lnTo>
                <a:lnTo>
                  <a:pt x="637070" y="158330"/>
                </a:lnTo>
                <a:lnTo>
                  <a:pt x="613689" y="84251"/>
                </a:lnTo>
                <a:lnTo>
                  <a:pt x="579399" y="84251"/>
                </a:lnTo>
                <a:lnTo>
                  <a:pt x="620953" y="196176"/>
                </a:lnTo>
                <a:lnTo>
                  <a:pt x="608850" y="227926"/>
                </a:lnTo>
                <a:lnTo>
                  <a:pt x="641540" y="227926"/>
                </a:lnTo>
                <a:lnTo>
                  <a:pt x="667499" y="158330"/>
                </a:lnTo>
                <a:lnTo>
                  <a:pt x="695121" y="84251"/>
                </a:lnTo>
                <a:close/>
              </a:path>
              <a:path w="737870" h="296545">
                <a:moveTo>
                  <a:pt x="712063" y="0"/>
                </a:moveTo>
                <a:lnTo>
                  <a:pt x="695934" y="0"/>
                </a:lnTo>
                <a:lnTo>
                  <a:pt x="695934" y="4076"/>
                </a:lnTo>
                <a:lnTo>
                  <a:pt x="701573" y="4076"/>
                </a:lnTo>
                <a:lnTo>
                  <a:pt x="701573" y="22390"/>
                </a:lnTo>
                <a:lnTo>
                  <a:pt x="706043" y="22390"/>
                </a:lnTo>
                <a:lnTo>
                  <a:pt x="706043" y="4076"/>
                </a:lnTo>
                <a:lnTo>
                  <a:pt x="712063" y="4076"/>
                </a:lnTo>
                <a:lnTo>
                  <a:pt x="712063" y="0"/>
                </a:lnTo>
                <a:close/>
              </a:path>
              <a:path w="737870" h="296545">
                <a:moveTo>
                  <a:pt x="737857" y="0"/>
                </a:moveTo>
                <a:lnTo>
                  <a:pt x="733018" y="0"/>
                </a:lnTo>
                <a:lnTo>
                  <a:pt x="726567" y="15468"/>
                </a:lnTo>
                <a:lnTo>
                  <a:pt x="723341" y="7734"/>
                </a:lnTo>
                <a:lnTo>
                  <a:pt x="720115" y="0"/>
                </a:lnTo>
                <a:lnTo>
                  <a:pt x="715289" y="0"/>
                </a:lnTo>
                <a:lnTo>
                  <a:pt x="715289" y="22390"/>
                </a:lnTo>
                <a:lnTo>
                  <a:pt x="719315" y="22390"/>
                </a:lnTo>
                <a:lnTo>
                  <a:pt x="719315" y="7734"/>
                </a:lnTo>
                <a:lnTo>
                  <a:pt x="719747" y="7734"/>
                </a:lnTo>
                <a:lnTo>
                  <a:pt x="725385" y="22390"/>
                </a:lnTo>
                <a:lnTo>
                  <a:pt x="727811" y="22390"/>
                </a:lnTo>
                <a:lnTo>
                  <a:pt x="730656" y="15468"/>
                </a:lnTo>
                <a:lnTo>
                  <a:pt x="733831" y="7734"/>
                </a:lnTo>
                <a:lnTo>
                  <a:pt x="733831" y="22390"/>
                </a:lnTo>
                <a:lnTo>
                  <a:pt x="737857" y="22390"/>
                </a:lnTo>
                <a:lnTo>
                  <a:pt x="737857" y="7734"/>
                </a:lnTo>
                <a:lnTo>
                  <a:pt x="737857" y="0"/>
                </a:lnTo>
                <a:close/>
              </a:path>
            </a:pathLst>
          </a:custGeom>
          <a:solidFill>
            <a:srgbClr val="006092"/>
          </a:solidFill>
        </p:spPr>
        <p:txBody>
          <a:bodyPr wrap="square" lIns="0" tIns="0" rIns="0" bIns="0" rtlCol="0"/>
          <a:lstStyle/>
          <a:p>
            <a:endParaRPr/>
          </a:p>
        </p:txBody>
      </p:sp>
      <p:sp>
        <p:nvSpPr>
          <p:cNvPr id="2" name="Holder 2"/>
          <p:cNvSpPr>
            <a:spLocks noGrp="1"/>
          </p:cNvSpPr>
          <p:nvPr>
            <p:ph type="title"/>
          </p:nvPr>
        </p:nvSpPr>
        <p:spPr>
          <a:xfrm>
            <a:off x="457606" y="232994"/>
            <a:ext cx="8228787" cy="391795"/>
          </a:xfrm>
          <a:prstGeom prst="rect">
            <a:avLst/>
          </a:prstGeom>
        </p:spPr>
        <p:txBody>
          <a:bodyPr wrap="square" lIns="0" tIns="0" rIns="0" bIns="0">
            <a:spAutoFit/>
          </a:bodyPr>
          <a:lstStyle>
            <a:lvl1pPr>
              <a:defRPr sz="2400" b="1" i="0">
                <a:solidFill>
                  <a:srgbClr val="094D80"/>
                </a:solidFill>
                <a:latin typeface="Arial"/>
                <a:cs typeface="Arial"/>
              </a:defRPr>
            </a:lvl1pPr>
          </a:lstStyle>
          <a:p>
            <a:endParaRPr/>
          </a:p>
        </p:txBody>
      </p:sp>
      <p:sp>
        <p:nvSpPr>
          <p:cNvPr id="3" name="Holder 3"/>
          <p:cNvSpPr>
            <a:spLocks noGrp="1"/>
          </p:cNvSpPr>
          <p:nvPr>
            <p:ph type="body" idx="1"/>
          </p:nvPr>
        </p:nvSpPr>
        <p:spPr>
          <a:xfrm>
            <a:off x="670560" y="2077085"/>
            <a:ext cx="7802879" cy="1306195"/>
          </a:xfrm>
          <a:prstGeom prst="rect">
            <a:avLst/>
          </a:prstGeom>
        </p:spPr>
        <p:txBody>
          <a:bodyPr wrap="square" lIns="0" tIns="0" rIns="0" bIns="0">
            <a:spAutoFit/>
          </a:bodyPr>
          <a:lstStyle>
            <a:lvl1pPr>
              <a:defRPr sz="1800" b="0" i="0">
                <a:solidFill>
                  <a:srgbClr val="415363"/>
                </a:solidFill>
                <a:latin typeface="Arial"/>
                <a:cs typeface="Arial"/>
              </a:defRPr>
            </a:lvl1pPr>
          </a:lstStyle>
          <a:p>
            <a:endParaRPr/>
          </a:p>
        </p:txBody>
      </p:sp>
      <p:sp>
        <p:nvSpPr>
          <p:cNvPr id="6" name="Holder 6"/>
          <p:cNvSpPr>
            <a:spLocks noGrp="1"/>
          </p:cNvSpPr>
          <p:nvPr>
            <p:ph type="sldNum" sz="quarter" idx="7"/>
          </p:nvPr>
        </p:nvSpPr>
        <p:spPr>
          <a:xfrm>
            <a:off x="431291" y="4792355"/>
            <a:ext cx="3325495" cy="138499"/>
          </a:xfrm>
          <a:prstGeom prst="rect">
            <a:avLst/>
          </a:prstGeom>
        </p:spPr>
        <p:txBody>
          <a:bodyPr wrap="square" lIns="0" tIns="0" rIns="0" bIns="0">
            <a:spAutoFit/>
          </a:bodyPr>
          <a:lstStyle>
            <a:lvl1pPr>
              <a:defRPr sz="900" b="0" i="0">
                <a:solidFill>
                  <a:srgbClr val="094D80"/>
                </a:solidFill>
                <a:latin typeface="Arial"/>
                <a:cs typeface="Arial"/>
              </a:defRPr>
            </a:lvl1pPr>
          </a:lstStyle>
          <a:p>
            <a:pPr marL="38100">
              <a:lnSpc>
                <a:spcPct val="100000"/>
              </a:lnSpc>
              <a:spcBef>
                <a:spcPts val="150"/>
              </a:spcBef>
              <a:tabLst>
                <a:tab pos="287020" algn="l"/>
              </a:tabLst>
            </a:pPr>
            <a:fld id="{81D60167-4931-47E6-BA6A-407CBD079E47}" type="slidenum">
              <a:rPr lang="en-AU" b="1" spc="-5" smtClean="0"/>
              <a:pPr marL="38100">
                <a:spcBef>
                  <a:spcPts val="150"/>
                </a:spcBef>
                <a:tabLst>
                  <a:tab pos="287020" algn="l"/>
                </a:tabLst>
              </a:pPr>
              <a:t>‹#›</a:t>
            </a:fld>
            <a:r>
              <a:rPr lang="en-AU" b="1" spc="-5" dirty="0"/>
              <a:t>	</a:t>
            </a:r>
            <a:r>
              <a:rPr lang="en-AU" sz="1350" baseline="9259" dirty="0">
                <a:solidFill>
                  <a:srgbClr val="415363"/>
                </a:solidFill>
              </a:rPr>
              <a:t>|</a:t>
            </a:r>
            <a:r>
              <a:rPr lang="en-AU" sz="1350" spc="187" baseline="9259" dirty="0">
                <a:solidFill>
                  <a:srgbClr val="415363"/>
                </a:solidFill>
              </a:rPr>
              <a:t> </a:t>
            </a:r>
            <a:r>
              <a:rPr lang="en-AU" spc="-5" dirty="0"/>
              <a:t>Virtual Experience Program</a:t>
            </a:r>
            <a:endParaRPr sz="900" dirty="0">
              <a:latin typeface="Arial"/>
              <a:cs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E3114C1-C86F-4360-A7E3-203A1F2C017C}"/>
              </a:ext>
            </a:extLst>
          </p:cNvPr>
          <p:cNvGraphicFramePr>
            <a:graphicFrameLocks noChangeAspect="1"/>
          </p:cNvGraphicFramePr>
          <p:nvPr>
            <p:custDataLst>
              <p:tags r:id="rId1"/>
            </p:custDataLst>
            <p:extLst>
              <p:ext uri="{D42A27DB-BD31-4B8C-83A1-F6EECF244321}">
                <p14:modId xmlns:p14="http://schemas.microsoft.com/office/powerpoint/2010/main" val="22491458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78" imgH="278" progId="TCLayout.ActiveDocument.1">
                  <p:embed/>
                </p:oleObj>
              </mc:Choice>
              <mc:Fallback>
                <p:oleObj name="think-cell Slide" r:id="rId3" imgW="278" imgH="27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5" name="object 5"/>
          <p:cNvGrpSpPr/>
          <p:nvPr/>
        </p:nvGrpSpPr>
        <p:grpSpPr>
          <a:xfrm>
            <a:off x="7531693" y="4669126"/>
            <a:ext cx="348615" cy="352425"/>
            <a:chOff x="7531693" y="4669126"/>
            <a:chExt cx="348615" cy="352425"/>
          </a:xfrm>
        </p:grpSpPr>
        <p:sp>
          <p:nvSpPr>
            <p:cNvPr id="6" name="object 6"/>
            <p:cNvSpPr/>
            <p:nvPr/>
          </p:nvSpPr>
          <p:spPr>
            <a:xfrm>
              <a:off x="7531693" y="4669126"/>
              <a:ext cx="348615" cy="352425"/>
            </a:xfrm>
            <a:custGeom>
              <a:avLst/>
              <a:gdLst/>
              <a:ahLst/>
              <a:cxnLst/>
              <a:rect l="l" t="t" r="r" b="b"/>
              <a:pathLst>
                <a:path w="348615" h="352425">
                  <a:moveTo>
                    <a:pt x="348370" y="0"/>
                  </a:moveTo>
                  <a:lnTo>
                    <a:pt x="0" y="0"/>
                  </a:lnTo>
                  <a:lnTo>
                    <a:pt x="0" y="352046"/>
                  </a:lnTo>
                  <a:lnTo>
                    <a:pt x="348370" y="352046"/>
                  </a:lnTo>
                  <a:lnTo>
                    <a:pt x="348370" y="0"/>
                  </a:lnTo>
                  <a:close/>
                </a:path>
              </a:pathLst>
            </a:custGeom>
            <a:solidFill>
              <a:srgbClr val="B72E2A"/>
            </a:solidFill>
          </p:spPr>
          <p:txBody>
            <a:bodyPr wrap="square" lIns="0" tIns="0" rIns="0" bIns="0" rtlCol="0"/>
            <a:lstStyle/>
            <a:p>
              <a:endParaRPr/>
            </a:p>
          </p:txBody>
        </p:sp>
        <p:pic>
          <p:nvPicPr>
            <p:cNvPr id="7" name="object 7"/>
            <p:cNvPicPr/>
            <p:nvPr/>
          </p:nvPicPr>
          <p:blipFill>
            <a:blip r:embed="rId5" cstate="print"/>
            <a:stretch>
              <a:fillRect/>
            </a:stretch>
          </p:blipFill>
          <p:spPr>
            <a:xfrm>
              <a:off x="7643787" y="4749304"/>
              <a:ext cx="125798" cy="204306"/>
            </a:xfrm>
            <a:prstGeom prst="rect">
              <a:avLst/>
            </a:prstGeom>
          </p:spPr>
        </p:pic>
      </p:grpSp>
      <p:sp>
        <p:nvSpPr>
          <p:cNvPr id="8" name="object 8"/>
          <p:cNvSpPr/>
          <p:nvPr/>
        </p:nvSpPr>
        <p:spPr>
          <a:xfrm>
            <a:off x="7941742" y="4724882"/>
            <a:ext cx="737870" cy="296545"/>
          </a:xfrm>
          <a:custGeom>
            <a:avLst/>
            <a:gdLst/>
            <a:ahLst/>
            <a:cxnLst/>
            <a:rect l="l" t="t" r="r" b="b"/>
            <a:pathLst>
              <a:path w="737870" h="296545">
                <a:moveTo>
                  <a:pt x="25806" y="256413"/>
                </a:moveTo>
                <a:lnTo>
                  <a:pt x="16535" y="256413"/>
                </a:lnTo>
                <a:lnTo>
                  <a:pt x="16535" y="295478"/>
                </a:lnTo>
                <a:lnTo>
                  <a:pt x="25806" y="295478"/>
                </a:lnTo>
                <a:lnTo>
                  <a:pt x="25806" y="256413"/>
                </a:lnTo>
                <a:close/>
              </a:path>
              <a:path w="737870" h="296545">
                <a:moveTo>
                  <a:pt x="83870" y="256006"/>
                </a:moveTo>
                <a:lnTo>
                  <a:pt x="74599" y="256006"/>
                </a:lnTo>
                <a:lnTo>
                  <a:pt x="74599" y="278384"/>
                </a:lnTo>
                <a:lnTo>
                  <a:pt x="60083" y="256006"/>
                </a:lnTo>
                <a:lnTo>
                  <a:pt x="50812" y="256006"/>
                </a:lnTo>
                <a:lnTo>
                  <a:pt x="50812" y="295478"/>
                </a:lnTo>
                <a:lnTo>
                  <a:pt x="60083" y="295478"/>
                </a:lnTo>
                <a:lnTo>
                  <a:pt x="60083" y="273100"/>
                </a:lnTo>
                <a:lnTo>
                  <a:pt x="74599" y="295478"/>
                </a:lnTo>
                <a:lnTo>
                  <a:pt x="83870" y="295478"/>
                </a:lnTo>
                <a:lnTo>
                  <a:pt x="83870" y="256006"/>
                </a:lnTo>
                <a:close/>
              </a:path>
              <a:path w="737870" h="296545">
                <a:moveTo>
                  <a:pt x="105244" y="24422"/>
                </a:moveTo>
                <a:lnTo>
                  <a:pt x="16535" y="24422"/>
                </a:lnTo>
                <a:lnTo>
                  <a:pt x="16535" y="85471"/>
                </a:lnTo>
                <a:lnTo>
                  <a:pt x="0" y="85471"/>
                </a:lnTo>
                <a:lnTo>
                  <a:pt x="0" y="105016"/>
                </a:lnTo>
                <a:lnTo>
                  <a:pt x="16535" y="105016"/>
                </a:lnTo>
                <a:lnTo>
                  <a:pt x="16535" y="116408"/>
                </a:lnTo>
                <a:lnTo>
                  <a:pt x="0" y="116408"/>
                </a:lnTo>
                <a:lnTo>
                  <a:pt x="0" y="135534"/>
                </a:lnTo>
                <a:lnTo>
                  <a:pt x="16535" y="135534"/>
                </a:lnTo>
                <a:lnTo>
                  <a:pt x="16535" y="196583"/>
                </a:lnTo>
                <a:lnTo>
                  <a:pt x="50812" y="196583"/>
                </a:lnTo>
                <a:lnTo>
                  <a:pt x="50812" y="135534"/>
                </a:lnTo>
                <a:lnTo>
                  <a:pt x="83070" y="135534"/>
                </a:lnTo>
                <a:lnTo>
                  <a:pt x="91541" y="116408"/>
                </a:lnTo>
                <a:lnTo>
                  <a:pt x="50812" y="116408"/>
                </a:lnTo>
                <a:lnTo>
                  <a:pt x="50812" y="105016"/>
                </a:lnTo>
                <a:lnTo>
                  <a:pt x="96774" y="105016"/>
                </a:lnTo>
                <a:lnTo>
                  <a:pt x="105244" y="85471"/>
                </a:lnTo>
                <a:lnTo>
                  <a:pt x="50812" y="85471"/>
                </a:lnTo>
                <a:lnTo>
                  <a:pt x="50812" y="52501"/>
                </a:lnTo>
                <a:lnTo>
                  <a:pt x="105244" y="52501"/>
                </a:lnTo>
                <a:lnTo>
                  <a:pt x="105244" y="24422"/>
                </a:lnTo>
                <a:close/>
              </a:path>
              <a:path w="737870" h="296545">
                <a:moveTo>
                  <a:pt x="132676" y="256006"/>
                </a:moveTo>
                <a:lnTo>
                  <a:pt x="105244" y="256006"/>
                </a:lnTo>
                <a:lnTo>
                  <a:pt x="105244" y="263740"/>
                </a:lnTo>
                <a:lnTo>
                  <a:pt x="114134" y="263740"/>
                </a:lnTo>
                <a:lnTo>
                  <a:pt x="114134" y="295478"/>
                </a:lnTo>
                <a:lnTo>
                  <a:pt x="123812" y="295478"/>
                </a:lnTo>
                <a:lnTo>
                  <a:pt x="123812" y="263740"/>
                </a:lnTo>
                <a:lnTo>
                  <a:pt x="132676" y="263740"/>
                </a:lnTo>
                <a:lnTo>
                  <a:pt x="132676" y="256006"/>
                </a:lnTo>
                <a:close/>
              </a:path>
              <a:path w="737870" h="296545">
                <a:moveTo>
                  <a:pt x="154444" y="85064"/>
                </a:moveTo>
                <a:lnTo>
                  <a:pt x="120154" y="85064"/>
                </a:lnTo>
                <a:lnTo>
                  <a:pt x="120154" y="196176"/>
                </a:lnTo>
                <a:lnTo>
                  <a:pt x="154444" y="196176"/>
                </a:lnTo>
                <a:lnTo>
                  <a:pt x="154444" y="85064"/>
                </a:lnTo>
                <a:close/>
              </a:path>
              <a:path w="737870" h="296545">
                <a:moveTo>
                  <a:pt x="155257" y="37858"/>
                </a:moveTo>
                <a:lnTo>
                  <a:pt x="153720" y="30937"/>
                </a:lnTo>
                <a:lnTo>
                  <a:pt x="149656" y="25234"/>
                </a:lnTo>
                <a:lnTo>
                  <a:pt x="143852" y="21374"/>
                </a:lnTo>
                <a:lnTo>
                  <a:pt x="137083" y="19951"/>
                </a:lnTo>
                <a:lnTo>
                  <a:pt x="130009" y="21551"/>
                </a:lnTo>
                <a:lnTo>
                  <a:pt x="124256" y="25742"/>
                </a:lnTo>
                <a:lnTo>
                  <a:pt x="120383" y="31623"/>
                </a:lnTo>
                <a:lnTo>
                  <a:pt x="118973" y="38265"/>
                </a:lnTo>
                <a:lnTo>
                  <a:pt x="120383" y="44907"/>
                </a:lnTo>
                <a:lnTo>
                  <a:pt x="124256" y="50774"/>
                </a:lnTo>
                <a:lnTo>
                  <a:pt x="130009" y="54978"/>
                </a:lnTo>
                <a:lnTo>
                  <a:pt x="137083" y="56578"/>
                </a:lnTo>
                <a:lnTo>
                  <a:pt x="144183" y="55029"/>
                </a:lnTo>
                <a:lnTo>
                  <a:pt x="149961" y="50876"/>
                </a:lnTo>
                <a:lnTo>
                  <a:pt x="153835" y="44907"/>
                </a:lnTo>
                <a:lnTo>
                  <a:pt x="155257" y="37858"/>
                </a:lnTo>
                <a:close/>
              </a:path>
              <a:path w="737870" h="296545">
                <a:moveTo>
                  <a:pt x="175412" y="256006"/>
                </a:moveTo>
                <a:lnTo>
                  <a:pt x="152831" y="256006"/>
                </a:lnTo>
                <a:lnTo>
                  <a:pt x="152831" y="295478"/>
                </a:lnTo>
                <a:lnTo>
                  <a:pt x="175412" y="295478"/>
                </a:lnTo>
                <a:lnTo>
                  <a:pt x="175412" y="287743"/>
                </a:lnTo>
                <a:lnTo>
                  <a:pt x="162509" y="287743"/>
                </a:lnTo>
                <a:lnTo>
                  <a:pt x="162509" y="279615"/>
                </a:lnTo>
                <a:lnTo>
                  <a:pt x="175412" y="279615"/>
                </a:lnTo>
                <a:lnTo>
                  <a:pt x="175412" y="271881"/>
                </a:lnTo>
                <a:lnTo>
                  <a:pt x="162509" y="271881"/>
                </a:lnTo>
                <a:lnTo>
                  <a:pt x="162509" y="263740"/>
                </a:lnTo>
                <a:lnTo>
                  <a:pt x="175412" y="263740"/>
                </a:lnTo>
                <a:lnTo>
                  <a:pt x="175412" y="256006"/>
                </a:lnTo>
                <a:close/>
              </a:path>
              <a:path w="737870" h="296545">
                <a:moveTo>
                  <a:pt x="228244" y="295478"/>
                </a:moveTo>
                <a:lnTo>
                  <a:pt x="219760" y="281241"/>
                </a:lnTo>
                <a:lnTo>
                  <a:pt x="221856" y="280428"/>
                </a:lnTo>
                <a:lnTo>
                  <a:pt x="225018" y="279196"/>
                </a:lnTo>
                <a:lnTo>
                  <a:pt x="227444" y="275132"/>
                </a:lnTo>
                <a:lnTo>
                  <a:pt x="227444" y="264960"/>
                </a:lnTo>
                <a:lnTo>
                  <a:pt x="227088" y="264147"/>
                </a:lnTo>
                <a:lnTo>
                  <a:pt x="225831" y="261289"/>
                </a:lnTo>
                <a:lnTo>
                  <a:pt x="222986" y="259257"/>
                </a:lnTo>
                <a:lnTo>
                  <a:pt x="220560" y="257225"/>
                </a:lnTo>
                <a:lnTo>
                  <a:pt x="217766" y="256286"/>
                </a:lnTo>
                <a:lnTo>
                  <a:pt x="217766" y="266179"/>
                </a:lnTo>
                <a:lnTo>
                  <a:pt x="217766" y="273100"/>
                </a:lnTo>
                <a:lnTo>
                  <a:pt x="215353" y="275132"/>
                </a:lnTo>
                <a:lnTo>
                  <a:pt x="208470" y="275132"/>
                </a:lnTo>
                <a:lnTo>
                  <a:pt x="208470" y="264147"/>
                </a:lnTo>
                <a:lnTo>
                  <a:pt x="215722" y="264147"/>
                </a:lnTo>
                <a:lnTo>
                  <a:pt x="217766" y="266179"/>
                </a:lnTo>
                <a:lnTo>
                  <a:pt x="217766" y="256286"/>
                </a:lnTo>
                <a:lnTo>
                  <a:pt x="216954" y="256006"/>
                </a:lnTo>
                <a:lnTo>
                  <a:pt x="199174" y="256006"/>
                </a:lnTo>
                <a:lnTo>
                  <a:pt x="199174" y="295478"/>
                </a:lnTo>
                <a:lnTo>
                  <a:pt x="208470" y="295478"/>
                </a:lnTo>
                <a:lnTo>
                  <a:pt x="208470" y="280428"/>
                </a:lnTo>
                <a:lnTo>
                  <a:pt x="216954" y="295478"/>
                </a:lnTo>
                <a:lnTo>
                  <a:pt x="228244" y="295478"/>
                </a:lnTo>
                <a:close/>
              </a:path>
              <a:path w="737870" h="296545">
                <a:moveTo>
                  <a:pt x="284251" y="24015"/>
                </a:moveTo>
                <a:lnTo>
                  <a:pt x="254368" y="24015"/>
                </a:lnTo>
                <a:lnTo>
                  <a:pt x="254368" y="140004"/>
                </a:lnTo>
                <a:lnTo>
                  <a:pt x="254368" y="140817"/>
                </a:lnTo>
                <a:lnTo>
                  <a:pt x="252577" y="153530"/>
                </a:lnTo>
                <a:lnTo>
                  <a:pt x="247180" y="164122"/>
                </a:lnTo>
                <a:lnTo>
                  <a:pt x="238455" y="171208"/>
                </a:lnTo>
                <a:lnTo>
                  <a:pt x="226631" y="173786"/>
                </a:lnTo>
                <a:lnTo>
                  <a:pt x="214617" y="171107"/>
                </a:lnTo>
                <a:lnTo>
                  <a:pt x="205905" y="163868"/>
                </a:lnTo>
                <a:lnTo>
                  <a:pt x="200583" y="153365"/>
                </a:lnTo>
                <a:lnTo>
                  <a:pt x="198793" y="140817"/>
                </a:lnTo>
                <a:lnTo>
                  <a:pt x="200520" y="128460"/>
                </a:lnTo>
                <a:lnTo>
                  <a:pt x="205638" y="117932"/>
                </a:lnTo>
                <a:lnTo>
                  <a:pt x="214096" y="110604"/>
                </a:lnTo>
                <a:lnTo>
                  <a:pt x="225831" y="107861"/>
                </a:lnTo>
                <a:lnTo>
                  <a:pt x="238467" y="110604"/>
                </a:lnTo>
                <a:lnTo>
                  <a:pt x="247294" y="117805"/>
                </a:lnTo>
                <a:lnTo>
                  <a:pt x="247408" y="117932"/>
                </a:lnTo>
                <a:lnTo>
                  <a:pt x="252679" y="128295"/>
                </a:lnTo>
                <a:lnTo>
                  <a:pt x="254368" y="140004"/>
                </a:lnTo>
                <a:lnTo>
                  <a:pt x="254368" y="24015"/>
                </a:lnTo>
                <a:lnTo>
                  <a:pt x="253238" y="24015"/>
                </a:lnTo>
                <a:lnTo>
                  <a:pt x="253238" y="99314"/>
                </a:lnTo>
                <a:lnTo>
                  <a:pt x="252806" y="99314"/>
                </a:lnTo>
                <a:lnTo>
                  <a:pt x="244894" y="90843"/>
                </a:lnTo>
                <a:lnTo>
                  <a:pt x="236639" y="85318"/>
                </a:lnTo>
                <a:lnTo>
                  <a:pt x="227711" y="82308"/>
                </a:lnTo>
                <a:lnTo>
                  <a:pt x="217766" y="81407"/>
                </a:lnTo>
                <a:lnTo>
                  <a:pt x="196253" y="86207"/>
                </a:lnTo>
                <a:lnTo>
                  <a:pt x="179984" y="99110"/>
                </a:lnTo>
                <a:lnTo>
                  <a:pt x="169697" y="117805"/>
                </a:lnTo>
                <a:lnTo>
                  <a:pt x="166116" y="140004"/>
                </a:lnTo>
                <a:lnTo>
                  <a:pt x="169875" y="162280"/>
                </a:lnTo>
                <a:lnTo>
                  <a:pt x="180479" y="181114"/>
                </a:lnTo>
                <a:lnTo>
                  <a:pt x="196900" y="194157"/>
                </a:lnTo>
                <a:lnTo>
                  <a:pt x="218147" y="199021"/>
                </a:lnTo>
                <a:lnTo>
                  <a:pt x="228473" y="197993"/>
                </a:lnTo>
                <a:lnTo>
                  <a:pt x="238074" y="194703"/>
                </a:lnTo>
                <a:lnTo>
                  <a:pt x="246684" y="188899"/>
                </a:lnTo>
                <a:lnTo>
                  <a:pt x="254050" y="180301"/>
                </a:lnTo>
                <a:lnTo>
                  <a:pt x="254419" y="180301"/>
                </a:lnTo>
                <a:lnTo>
                  <a:pt x="254419" y="196176"/>
                </a:lnTo>
                <a:lnTo>
                  <a:pt x="284251" y="196176"/>
                </a:lnTo>
                <a:lnTo>
                  <a:pt x="284251" y="180301"/>
                </a:lnTo>
                <a:lnTo>
                  <a:pt x="284251" y="173786"/>
                </a:lnTo>
                <a:lnTo>
                  <a:pt x="284251" y="107861"/>
                </a:lnTo>
                <a:lnTo>
                  <a:pt x="284251" y="99314"/>
                </a:lnTo>
                <a:lnTo>
                  <a:pt x="284251" y="24015"/>
                </a:lnTo>
                <a:close/>
              </a:path>
              <a:path w="737870" h="296545">
                <a:moveTo>
                  <a:pt x="284683" y="256006"/>
                </a:moveTo>
                <a:lnTo>
                  <a:pt x="275386" y="256006"/>
                </a:lnTo>
                <a:lnTo>
                  <a:pt x="275386" y="278384"/>
                </a:lnTo>
                <a:lnTo>
                  <a:pt x="261302" y="256006"/>
                </a:lnTo>
                <a:lnTo>
                  <a:pt x="251625" y="256006"/>
                </a:lnTo>
                <a:lnTo>
                  <a:pt x="251625" y="295478"/>
                </a:lnTo>
                <a:lnTo>
                  <a:pt x="261302" y="295478"/>
                </a:lnTo>
                <a:lnTo>
                  <a:pt x="261302" y="273100"/>
                </a:lnTo>
                <a:lnTo>
                  <a:pt x="275386" y="295478"/>
                </a:lnTo>
                <a:lnTo>
                  <a:pt x="284683" y="295478"/>
                </a:lnTo>
                <a:lnTo>
                  <a:pt x="284683" y="256006"/>
                </a:lnTo>
                <a:close/>
              </a:path>
              <a:path w="737870" h="296545">
                <a:moveTo>
                  <a:pt x="343547" y="295478"/>
                </a:moveTo>
                <a:lnTo>
                  <a:pt x="341680" y="289788"/>
                </a:lnTo>
                <a:lnTo>
                  <a:pt x="339153" y="282054"/>
                </a:lnTo>
                <a:lnTo>
                  <a:pt x="334365" y="267398"/>
                </a:lnTo>
                <a:lnTo>
                  <a:pt x="330644" y="256006"/>
                </a:lnTo>
                <a:lnTo>
                  <a:pt x="329031" y="256006"/>
                </a:lnTo>
                <a:lnTo>
                  <a:pt x="329031" y="282054"/>
                </a:lnTo>
                <a:lnTo>
                  <a:pt x="319735" y="282054"/>
                </a:lnTo>
                <a:lnTo>
                  <a:pt x="324573" y="267398"/>
                </a:lnTo>
                <a:lnTo>
                  <a:pt x="329031" y="282054"/>
                </a:lnTo>
                <a:lnTo>
                  <a:pt x="329031" y="256006"/>
                </a:lnTo>
                <a:lnTo>
                  <a:pt x="318554" y="256006"/>
                </a:lnTo>
                <a:lnTo>
                  <a:pt x="305650" y="295478"/>
                </a:lnTo>
                <a:lnTo>
                  <a:pt x="315696" y="295478"/>
                </a:lnTo>
                <a:lnTo>
                  <a:pt x="317309" y="289788"/>
                </a:lnTo>
                <a:lnTo>
                  <a:pt x="331444" y="289788"/>
                </a:lnTo>
                <a:lnTo>
                  <a:pt x="333057" y="295478"/>
                </a:lnTo>
                <a:lnTo>
                  <a:pt x="343547" y="295478"/>
                </a:lnTo>
                <a:close/>
              </a:path>
              <a:path w="737870" h="296545">
                <a:moveTo>
                  <a:pt x="386702" y="256006"/>
                </a:moveTo>
                <a:lnTo>
                  <a:pt x="359295" y="256006"/>
                </a:lnTo>
                <a:lnTo>
                  <a:pt x="359295" y="263740"/>
                </a:lnTo>
                <a:lnTo>
                  <a:pt x="368160" y="263740"/>
                </a:lnTo>
                <a:lnTo>
                  <a:pt x="368160" y="295478"/>
                </a:lnTo>
                <a:lnTo>
                  <a:pt x="377837" y="295478"/>
                </a:lnTo>
                <a:lnTo>
                  <a:pt x="377837" y="263740"/>
                </a:lnTo>
                <a:lnTo>
                  <a:pt x="386702" y="263740"/>
                </a:lnTo>
                <a:lnTo>
                  <a:pt x="386702" y="256006"/>
                </a:lnTo>
                <a:close/>
              </a:path>
              <a:path w="737870" h="296545">
                <a:moveTo>
                  <a:pt x="408470" y="140411"/>
                </a:moveTo>
                <a:lnTo>
                  <a:pt x="406527" y="129019"/>
                </a:lnTo>
                <a:lnTo>
                  <a:pt x="404291" y="115912"/>
                </a:lnTo>
                <a:lnTo>
                  <a:pt x="397433" y="105016"/>
                </a:lnTo>
                <a:lnTo>
                  <a:pt x="392595" y="97320"/>
                </a:lnTo>
                <a:lnTo>
                  <a:pt x="377405" y="87363"/>
                </a:lnTo>
                <a:lnTo>
                  <a:pt x="377405" y="129019"/>
                </a:lnTo>
                <a:lnTo>
                  <a:pt x="327418" y="129019"/>
                </a:lnTo>
                <a:lnTo>
                  <a:pt x="329857" y="119951"/>
                </a:lnTo>
                <a:lnTo>
                  <a:pt x="334873" y="112280"/>
                </a:lnTo>
                <a:lnTo>
                  <a:pt x="342607" y="106984"/>
                </a:lnTo>
                <a:lnTo>
                  <a:pt x="353212" y="105016"/>
                </a:lnTo>
                <a:lnTo>
                  <a:pt x="363131" y="107213"/>
                </a:lnTo>
                <a:lnTo>
                  <a:pt x="370471" y="112890"/>
                </a:lnTo>
                <a:lnTo>
                  <a:pt x="375234" y="120637"/>
                </a:lnTo>
                <a:lnTo>
                  <a:pt x="377405" y="129019"/>
                </a:lnTo>
                <a:lnTo>
                  <a:pt x="377405" y="87363"/>
                </a:lnTo>
                <a:lnTo>
                  <a:pt x="374624" y="85534"/>
                </a:lnTo>
                <a:lnTo>
                  <a:pt x="351612" y="81407"/>
                </a:lnTo>
                <a:lnTo>
                  <a:pt x="328587" y="85534"/>
                </a:lnTo>
                <a:lnTo>
                  <a:pt x="310616" y="97320"/>
                </a:lnTo>
                <a:lnTo>
                  <a:pt x="298919" y="115912"/>
                </a:lnTo>
                <a:lnTo>
                  <a:pt x="294741" y="140411"/>
                </a:lnTo>
                <a:lnTo>
                  <a:pt x="298919" y="164680"/>
                </a:lnTo>
                <a:lnTo>
                  <a:pt x="310616" y="183146"/>
                </a:lnTo>
                <a:lnTo>
                  <a:pt x="328587" y="194906"/>
                </a:lnTo>
                <a:lnTo>
                  <a:pt x="351612" y="199021"/>
                </a:lnTo>
                <a:lnTo>
                  <a:pt x="370039" y="196824"/>
                </a:lnTo>
                <a:lnTo>
                  <a:pt x="385584" y="190271"/>
                </a:lnTo>
                <a:lnTo>
                  <a:pt x="397649" y="179451"/>
                </a:lnTo>
                <a:lnTo>
                  <a:pt x="399796" y="175425"/>
                </a:lnTo>
                <a:lnTo>
                  <a:pt x="405625" y="164439"/>
                </a:lnTo>
                <a:lnTo>
                  <a:pt x="375412" y="161988"/>
                </a:lnTo>
                <a:lnTo>
                  <a:pt x="371373" y="167690"/>
                </a:lnTo>
                <a:lnTo>
                  <a:pt x="366128" y="171907"/>
                </a:lnTo>
                <a:lnTo>
                  <a:pt x="359981" y="174523"/>
                </a:lnTo>
                <a:lnTo>
                  <a:pt x="353212" y="175425"/>
                </a:lnTo>
                <a:lnTo>
                  <a:pt x="342214" y="173113"/>
                </a:lnTo>
                <a:lnTo>
                  <a:pt x="334416" y="167081"/>
                </a:lnTo>
                <a:lnTo>
                  <a:pt x="329565" y="158597"/>
                </a:lnTo>
                <a:lnTo>
                  <a:pt x="327418" y="148971"/>
                </a:lnTo>
                <a:lnTo>
                  <a:pt x="408470" y="148971"/>
                </a:lnTo>
                <a:lnTo>
                  <a:pt x="408470" y="140411"/>
                </a:lnTo>
                <a:close/>
              </a:path>
              <a:path w="737870" h="296545">
                <a:moveTo>
                  <a:pt x="421373" y="256413"/>
                </a:moveTo>
                <a:lnTo>
                  <a:pt x="411695" y="256413"/>
                </a:lnTo>
                <a:lnTo>
                  <a:pt x="411695" y="295478"/>
                </a:lnTo>
                <a:lnTo>
                  <a:pt x="421373" y="295478"/>
                </a:lnTo>
                <a:lnTo>
                  <a:pt x="421373" y="256413"/>
                </a:lnTo>
                <a:close/>
              </a:path>
              <a:path w="737870" h="296545">
                <a:moveTo>
                  <a:pt x="450773" y="24015"/>
                </a:moveTo>
                <a:lnTo>
                  <a:pt x="419328" y="24015"/>
                </a:lnTo>
                <a:lnTo>
                  <a:pt x="419328" y="196176"/>
                </a:lnTo>
                <a:lnTo>
                  <a:pt x="450773" y="196176"/>
                </a:lnTo>
                <a:lnTo>
                  <a:pt x="450773" y="24015"/>
                </a:lnTo>
                <a:close/>
              </a:path>
              <a:path w="737870" h="296545">
                <a:moveTo>
                  <a:pt x="484263" y="275945"/>
                </a:moveTo>
                <a:lnTo>
                  <a:pt x="482752" y="267792"/>
                </a:lnTo>
                <a:lnTo>
                  <a:pt x="480377" y="264147"/>
                </a:lnTo>
                <a:lnTo>
                  <a:pt x="478561" y="261340"/>
                </a:lnTo>
                <a:lnTo>
                  <a:pt x="474586" y="258711"/>
                </a:lnTo>
                <a:lnTo>
                  <a:pt x="474586" y="269430"/>
                </a:lnTo>
                <a:lnTo>
                  <a:pt x="474586" y="282460"/>
                </a:lnTo>
                <a:lnTo>
                  <a:pt x="469747" y="287337"/>
                </a:lnTo>
                <a:lnTo>
                  <a:pt x="457657" y="287337"/>
                </a:lnTo>
                <a:lnTo>
                  <a:pt x="452818" y="282460"/>
                </a:lnTo>
                <a:lnTo>
                  <a:pt x="452818" y="269024"/>
                </a:lnTo>
                <a:lnTo>
                  <a:pt x="457225" y="264147"/>
                </a:lnTo>
                <a:lnTo>
                  <a:pt x="470128" y="264147"/>
                </a:lnTo>
                <a:lnTo>
                  <a:pt x="474586" y="269430"/>
                </a:lnTo>
                <a:lnTo>
                  <a:pt x="474586" y="258711"/>
                </a:lnTo>
                <a:lnTo>
                  <a:pt x="472173" y="257111"/>
                </a:lnTo>
                <a:lnTo>
                  <a:pt x="464108" y="255600"/>
                </a:lnTo>
                <a:lnTo>
                  <a:pt x="458457" y="255600"/>
                </a:lnTo>
                <a:lnTo>
                  <a:pt x="453199" y="257225"/>
                </a:lnTo>
                <a:lnTo>
                  <a:pt x="449592" y="260883"/>
                </a:lnTo>
                <a:lnTo>
                  <a:pt x="445135" y="264960"/>
                </a:lnTo>
                <a:lnTo>
                  <a:pt x="443141" y="270243"/>
                </a:lnTo>
                <a:lnTo>
                  <a:pt x="443141" y="275945"/>
                </a:lnTo>
                <a:lnTo>
                  <a:pt x="444766" y="283933"/>
                </a:lnTo>
                <a:lnTo>
                  <a:pt x="449173" y="290398"/>
                </a:lnTo>
                <a:lnTo>
                  <a:pt x="455701" y="294716"/>
                </a:lnTo>
                <a:lnTo>
                  <a:pt x="463677" y="296291"/>
                </a:lnTo>
                <a:lnTo>
                  <a:pt x="471652" y="294716"/>
                </a:lnTo>
                <a:lnTo>
                  <a:pt x="478205" y="290398"/>
                </a:lnTo>
                <a:lnTo>
                  <a:pt x="480301" y="287337"/>
                </a:lnTo>
                <a:lnTo>
                  <a:pt x="482638" y="283933"/>
                </a:lnTo>
                <a:lnTo>
                  <a:pt x="484263" y="275945"/>
                </a:lnTo>
                <a:close/>
              </a:path>
              <a:path w="737870" h="296545">
                <a:moveTo>
                  <a:pt x="496785" y="84251"/>
                </a:moveTo>
                <a:lnTo>
                  <a:pt x="465721" y="84251"/>
                </a:lnTo>
                <a:lnTo>
                  <a:pt x="465721" y="196176"/>
                </a:lnTo>
                <a:lnTo>
                  <a:pt x="496785" y="196176"/>
                </a:lnTo>
                <a:lnTo>
                  <a:pt x="496785" y="84251"/>
                </a:lnTo>
                <a:close/>
              </a:path>
              <a:path w="737870" h="296545">
                <a:moveTo>
                  <a:pt x="499579" y="37858"/>
                </a:moveTo>
                <a:lnTo>
                  <a:pt x="498055" y="30937"/>
                </a:lnTo>
                <a:lnTo>
                  <a:pt x="493979" y="25234"/>
                </a:lnTo>
                <a:lnTo>
                  <a:pt x="488175" y="21374"/>
                </a:lnTo>
                <a:lnTo>
                  <a:pt x="481418" y="19951"/>
                </a:lnTo>
                <a:lnTo>
                  <a:pt x="474167" y="21551"/>
                </a:lnTo>
                <a:lnTo>
                  <a:pt x="468426" y="25742"/>
                </a:lnTo>
                <a:lnTo>
                  <a:pt x="464654" y="31623"/>
                </a:lnTo>
                <a:lnTo>
                  <a:pt x="463296" y="38265"/>
                </a:lnTo>
                <a:lnTo>
                  <a:pt x="464654" y="44907"/>
                </a:lnTo>
                <a:lnTo>
                  <a:pt x="468426" y="50774"/>
                </a:lnTo>
                <a:lnTo>
                  <a:pt x="474167" y="54978"/>
                </a:lnTo>
                <a:lnTo>
                  <a:pt x="481418" y="56578"/>
                </a:lnTo>
                <a:lnTo>
                  <a:pt x="488340" y="55029"/>
                </a:lnTo>
                <a:lnTo>
                  <a:pt x="494131" y="50876"/>
                </a:lnTo>
                <a:lnTo>
                  <a:pt x="498106" y="44907"/>
                </a:lnTo>
                <a:lnTo>
                  <a:pt x="499579" y="37858"/>
                </a:lnTo>
                <a:close/>
              </a:path>
              <a:path w="737870" h="296545">
                <a:moveTo>
                  <a:pt x="538276" y="256006"/>
                </a:moveTo>
                <a:lnTo>
                  <a:pt x="528612" y="256006"/>
                </a:lnTo>
                <a:lnTo>
                  <a:pt x="528612" y="278384"/>
                </a:lnTo>
                <a:lnTo>
                  <a:pt x="514527" y="256006"/>
                </a:lnTo>
                <a:lnTo>
                  <a:pt x="504850" y="256006"/>
                </a:lnTo>
                <a:lnTo>
                  <a:pt x="504850" y="295478"/>
                </a:lnTo>
                <a:lnTo>
                  <a:pt x="514527" y="295478"/>
                </a:lnTo>
                <a:lnTo>
                  <a:pt x="514527" y="273100"/>
                </a:lnTo>
                <a:lnTo>
                  <a:pt x="528612" y="295478"/>
                </a:lnTo>
                <a:lnTo>
                  <a:pt x="538276" y="295478"/>
                </a:lnTo>
                <a:lnTo>
                  <a:pt x="538276" y="256006"/>
                </a:lnTo>
                <a:close/>
              </a:path>
              <a:path w="737870" h="296545">
                <a:moveTo>
                  <a:pt x="570534" y="84251"/>
                </a:moveTo>
                <a:lnTo>
                  <a:pt x="554037" y="84251"/>
                </a:lnTo>
                <a:lnTo>
                  <a:pt x="554037" y="49250"/>
                </a:lnTo>
                <a:lnTo>
                  <a:pt x="522960" y="49250"/>
                </a:lnTo>
                <a:lnTo>
                  <a:pt x="522960" y="84251"/>
                </a:lnTo>
                <a:lnTo>
                  <a:pt x="508876" y="84251"/>
                </a:lnTo>
                <a:lnTo>
                  <a:pt x="508876" y="108267"/>
                </a:lnTo>
                <a:lnTo>
                  <a:pt x="522960" y="108267"/>
                </a:lnTo>
                <a:lnTo>
                  <a:pt x="522960" y="168097"/>
                </a:lnTo>
                <a:lnTo>
                  <a:pt x="525233" y="182968"/>
                </a:lnTo>
                <a:lnTo>
                  <a:pt x="531749" y="191897"/>
                </a:lnTo>
                <a:lnTo>
                  <a:pt x="542036" y="196253"/>
                </a:lnTo>
                <a:lnTo>
                  <a:pt x="555637" y="197396"/>
                </a:lnTo>
                <a:lnTo>
                  <a:pt x="560476" y="197396"/>
                </a:lnTo>
                <a:lnTo>
                  <a:pt x="565696" y="196583"/>
                </a:lnTo>
                <a:lnTo>
                  <a:pt x="570534" y="196176"/>
                </a:lnTo>
                <a:lnTo>
                  <a:pt x="570534" y="172161"/>
                </a:lnTo>
                <a:lnTo>
                  <a:pt x="570534" y="171348"/>
                </a:lnTo>
                <a:lnTo>
                  <a:pt x="568540" y="171754"/>
                </a:lnTo>
                <a:lnTo>
                  <a:pt x="566928" y="172161"/>
                </a:lnTo>
                <a:lnTo>
                  <a:pt x="556018" y="172161"/>
                </a:lnTo>
                <a:lnTo>
                  <a:pt x="554037" y="169722"/>
                </a:lnTo>
                <a:lnTo>
                  <a:pt x="554037" y="108267"/>
                </a:lnTo>
                <a:lnTo>
                  <a:pt x="570534" y="108267"/>
                </a:lnTo>
                <a:lnTo>
                  <a:pt x="570534" y="84251"/>
                </a:lnTo>
                <a:close/>
              </a:path>
              <a:path w="737870" h="296545">
                <a:moveTo>
                  <a:pt x="597141" y="295478"/>
                </a:moveTo>
                <a:lnTo>
                  <a:pt x="595274" y="289788"/>
                </a:lnTo>
                <a:lnTo>
                  <a:pt x="592747" y="282054"/>
                </a:lnTo>
                <a:lnTo>
                  <a:pt x="587959" y="267398"/>
                </a:lnTo>
                <a:lnTo>
                  <a:pt x="584238" y="256006"/>
                </a:lnTo>
                <a:lnTo>
                  <a:pt x="582625" y="256006"/>
                </a:lnTo>
                <a:lnTo>
                  <a:pt x="582625" y="282054"/>
                </a:lnTo>
                <a:lnTo>
                  <a:pt x="573379" y="282054"/>
                </a:lnTo>
                <a:lnTo>
                  <a:pt x="578218" y="267398"/>
                </a:lnTo>
                <a:lnTo>
                  <a:pt x="582625" y="282054"/>
                </a:lnTo>
                <a:lnTo>
                  <a:pt x="582625" y="256006"/>
                </a:lnTo>
                <a:lnTo>
                  <a:pt x="572147" y="256006"/>
                </a:lnTo>
                <a:lnTo>
                  <a:pt x="559244" y="295478"/>
                </a:lnTo>
                <a:lnTo>
                  <a:pt x="569353" y="295478"/>
                </a:lnTo>
                <a:lnTo>
                  <a:pt x="571334" y="289788"/>
                </a:lnTo>
                <a:lnTo>
                  <a:pt x="585050" y="289788"/>
                </a:lnTo>
                <a:lnTo>
                  <a:pt x="586663" y="295478"/>
                </a:lnTo>
                <a:lnTo>
                  <a:pt x="597141" y="295478"/>
                </a:lnTo>
                <a:close/>
              </a:path>
              <a:path w="737870" h="296545">
                <a:moveTo>
                  <a:pt x="640295" y="287743"/>
                </a:moveTo>
                <a:lnTo>
                  <a:pt x="627773" y="287743"/>
                </a:lnTo>
                <a:lnTo>
                  <a:pt x="627773" y="256006"/>
                </a:lnTo>
                <a:lnTo>
                  <a:pt x="618096" y="256006"/>
                </a:lnTo>
                <a:lnTo>
                  <a:pt x="618096" y="295478"/>
                </a:lnTo>
                <a:lnTo>
                  <a:pt x="640295" y="295478"/>
                </a:lnTo>
                <a:lnTo>
                  <a:pt x="640295" y="287743"/>
                </a:lnTo>
                <a:close/>
              </a:path>
              <a:path w="737870" h="296545">
                <a:moveTo>
                  <a:pt x="695121" y="84251"/>
                </a:moveTo>
                <a:lnTo>
                  <a:pt x="660882" y="84251"/>
                </a:lnTo>
                <a:lnTo>
                  <a:pt x="637501" y="158330"/>
                </a:lnTo>
                <a:lnTo>
                  <a:pt x="637070" y="158330"/>
                </a:lnTo>
                <a:lnTo>
                  <a:pt x="613689" y="84251"/>
                </a:lnTo>
                <a:lnTo>
                  <a:pt x="579399" y="84251"/>
                </a:lnTo>
                <a:lnTo>
                  <a:pt x="620953" y="196176"/>
                </a:lnTo>
                <a:lnTo>
                  <a:pt x="608850" y="227926"/>
                </a:lnTo>
                <a:lnTo>
                  <a:pt x="641540" y="227926"/>
                </a:lnTo>
                <a:lnTo>
                  <a:pt x="667499" y="158330"/>
                </a:lnTo>
                <a:lnTo>
                  <a:pt x="695121" y="84251"/>
                </a:lnTo>
                <a:close/>
              </a:path>
              <a:path w="737870" h="296545">
                <a:moveTo>
                  <a:pt x="712063" y="0"/>
                </a:moveTo>
                <a:lnTo>
                  <a:pt x="695934" y="0"/>
                </a:lnTo>
                <a:lnTo>
                  <a:pt x="695934" y="4076"/>
                </a:lnTo>
                <a:lnTo>
                  <a:pt x="701573" y="4076"/>
                </a:lnTo>
                <a:lnTo>
                  <a:pt x="701573" y="22390"/>
                </a:lnTo>
                <a:lnTo>
                  <a:pt x="706043" y="22390"/>
                </a:lnTo>
                <a:lnTo>
                  <a:pt x="706043" y="4076"/>
                </a:lnTo>
                <a:lnTo>
                  <a:pt x="712063" y="4076"/>
                </a:lnTo>
                <a:lnTo>
                  <a:pt x="712063" y="0"/>
                </a:lnTo>
                <a:close/>
              </a:path>
              <a:path w="737870" h="296545">
                <a:moveTo>
                  <a:pt x="737857" y="0"/>
                </a:moveTo>
                <a:lnTo>
                  <a:pt x="733018" y="0"/>
                </a:lnTo>
                <a:lnTo>
                  <a:pt x="726567" y="15468"/>
                </a:lnTo>
                <a:lnTo>
                  <a:pt x="723341" y="7734"/>
                </a:lnTo>
                <a:lnTo>
                  <a:pt x="720115" y="0"/>
                </a:lnTo>
                <a:lnTo>
                  <a:pt x="715289" y="0"/>
                </a:lnTo>
                <a:lnTo>
                  <a:pt x="715289" y="22390"/>
                </a:lnTo>
                <a:lnTo>
                  <a:pt x="719315" y="22390"/>
                </a:lnTo>
                <a:lnTo>
                  <a:pt x="719315" y="7734"/>
                </a:lnTo>
                <a:lnTo>
                  <a:pt x="719747" y="7734"/>
                </a:lnTo>
                <a:lnTo>
                  <a:pt x="725385" y="22390"/>
                </a:lnTo>
                <a:lnTo>
                  <a:pt x="727811" y="22390"/>
                </a:lnTo>
                <a:lnTo>
                  <a:pt x="730656" y="15468"/>
                </a:lnTo>
                <a:lnTo>
                  <a:pt x="733831" y="7734"/>
                </a:lnTo>
                <a:lnTo>
                  <a:pt x="733831" y="22390"/>
                </a:lnTo>
                <a:lnTo>
                  <a:pt x="737857" y="22390"/>
                </a:lnTo>
                <a:lnTo>
                  <a:pt x="737857" y="7734"/>
                </a:lnTo>
                <a:lnTo>
                  <a:pt x="737857" y="0"/>
                </a:lnTo>
                <a:close/>
              </a:path>
            </a:pathLst>
          </a:custGeom>
          <a:solidFill>
            <a:srgbClr val="006092"/>
          </a:solidFill>
        </p:spPr>
        <p:txBody>
          <a:bodyPr wrap="square" lIns="0" tIns="0" rIns="0" bIns="0" rtlCol="0"/>
          <a:lstStyle/>
          <a:p>
            <a:endParaRPr/>
          </a:p>
        </p:txBody>
      </p:sp>
      <p:sp>
        <p:nvSpPr>
          <p:cNvPr id="3" name="Title 2">
            <a:extLst>
              <a:ext uri="{FF2B5EF4-FFF2-40B4-BE49-F238E27FC236}">
                <a16:creationId xmlns:a16="http://schemas.microsoft.com/office/drawing/2014/main" id="{BEAFC367-C354-4890-97DB-2F3E4C7CB732}"/>
              </a:ext>
            </a:extLst>
          </p:cNvPr>
          <p:cNvSpPr>
            <a:spLocks noGrp="1"/>
          </p:cNvSpPr>
          <p:nvPr>
            <p:ph type="title"/>
          </p:nvPr>
        </p:nvSpPr>
        <p:spPr/>
        <p:txBody>
          <a:bodyPr/>
          <a:lstStyle/>
          <a:p>
            <a:endParaRPr lang="en-AU"/>
          </a:p>
        </p:txBody>
      </p:sp>
      <p:sp>
        <p:nvSpPr>
          <p:cNvPr id="11" name="object 4">
            <a:extLst>
              <a:ext uri="{FF2B5EF4-FFF2-40B4-BE49-F238E27FC236}">
                <a16:creationId xmlns:a16="http://schemas.microsoft.com/office/drawing/2014/main" id="{08876938-6363-41B4-8919-BEC9AC6AC0E1}"/>
              </a:ext>
            </a:extLst>
          </p:cNvPr>
          <p:cNvSpPr/>
          <p:nvPr/>
        </p:nvSpPr>
        <p:spPr>
          <a:xfrm>
            <a:off x="0" y="-9063"/>
            <a:ext cx="9144000" cy="2334895"/>
          </a:xfrm>
          <a:custGeom>
            <a:avLst/>
            <a:gdLst/>
            <a:ahLst/>
            <a:cxnLst/>
            <a:rect l="l" t="t" r="r" b="b"/>
            <a:pathLst>
              <a:path w="9144000" h="2334895">
                <a:moveTo>
                  <a:pt x="9144000" y="0"/>
                </a:moveTo>
                <a:lnTo>
                  <a:pt x="0" y="0"/>
                </a:lnTo>
                <a:lnTo>
                  <a:pt x="0" y="2334768"/>
                </a:lnTo>
                <a:lnTo>
                  <a:pt x="9144000" y="2334768"/>
                </a:lnTo>
                <a:lnTo>
                  <a:pt x="9144000" y="0"/>
                </a:lnTo>
                <a:close/>
              </a:path>
            </a:pathLst>
          </a:custGeom>
          <a:solidFill>
            <a:srgbClr val="094D80"/>
          </a:solidFill>
        </p:spPr>
        <p:txBody>
          <a:bodyPr wrap="square" lIns="0" tIns="0" rIns="0" bIns="0" rtlCol="0"/>
          <a:lstStyle/>
          <a:p>
            <a:endParaRPr/>
          </a:p>
        </p:txBody>
      </p:sp>
      <p:sp>
        <p:nvSpPr>
          <p:cNvPr id="12" name="object 9">
            <a:extLst>
              <a:ext uri="{FF2B5EF4-FFF2-40B4-BE49-F238E27FC236}">
                <a16:creationId xmlns:a16="http://schemas.microsoft.com/office/drawing/2014/main" id="{B267C0DC-4AB7-4785-88B9-E31991552AD8}"/>
              </a:ext>
            </a:extLst>
          </p:cNvPr>
          <p:cNvSpPr txBox="1">
            <a:spLocks/>
          </p:cNvSpPr>
          <p:nvPr/>
        </p:nvSpPr>
        <p:spPr>
          <a:xfrm>
            <a:off x="533400" y="1276350"/>
            <a:ext cx="5835704" cy="997068"/>
          </a:xfrm>
          <a:prstGeom prst="rect">
            <a:avLst/>
          </a:prstGeom>
        </p:spPr>
        <p:txBody>
          <a:bodyPr vert="horz" wrap="square" lIns="0" tIns="12065" rIns="0" bIns="0" rtlCol="0">
            <a:spAutoFit/>
          </a:bodyPr>
          <a:lstStyle>
            <a:lvl1pPr>
              <a:defRPr sz="2400" b="1" i="0">
                <a:solidFill>
                  <a:srgbClr val="094D80"/>
                </a:solidFill>
                <a:latin typeface="Arial"/>
                <a:ea typeface="+mj-ea"/>
                <a:cs typeface="Arial"/>
              </a:defRPr>
            </a:lvl1pPr>
          </a:lstStyle>
          <a:p>
            <a:pPr marL="12700">
              <a:spcBef>
                <a:spcPts val="95"/>
              </a:spcBef>
            </a:pPr>
            <a:r>
              <a:rPr lang="en-AU" sz="2200" kern="0" spc="-5" dirty="0">
                <a:solidFill>
                  <a:srgbClr val="FFFFFF"/>
                </a:solidFill>
              </a:rPr>
              <a:t>Fidelity</a:t>
            </a:r>
            <a:br>
              <a:rPr lang="en-AU" sz="2200" kern="0" spc="-5" dirty="0">
                <a:solidFill>
                  <a:srgbClr val="FFFFFF"/>
                </a:solidFill>
              </a:rPr>
            </a:br>
            <a:r>
              <a:rPr lang="en-AU" sz="1400" kern="0" spc="-5" dirty="0">
                <a:solidFill>
                  <a:srgbClr val="FFFFFF"/>
                </a:solidFill>
              </a:rPr>
              <a:t>Virtual Experience Program</a:t>
            </a:r>
            <a:br>
              <a:rPr lang="en-AU" sz="1400" kern="0" spc="-5" dirty="0">
                <a:solidFill>
                  <a:srgbClr val="FFFFFF"/>
                </a:solidFill>
              </a:rPr>
            </a:br>
            <a:br>
              <a:rPr lang="en-AU" sz="1400" kern="0" spc="-5" dirty="0">
                <a:solidFill>
                  <a:srgbClr val="FFFFFF"/>
                </a:solidFill>
              </a:rPr>
            </a:br>
            <a:r>
              <a:rPr lang="en-AU" sz="1400" b="0" kern="0" spc="-5" dirty="0">
                <a:solidFill>
                  <a:srgbClr val="FFFFFF"/>
                </a:solidFill>
              </a:rPr>
              <a:t>Pranav Naik - Analyst</a:t>
            </a:r>
            <a:endParaRPr lang="en-GB" sz="1200" b="0" kern="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0D92FC-9C5B-487B-A07D-309F055F856B}"/>
              </a:ext>
            </a:extLst>
          </p:cNvPr>
          <p:cNvGraphicFramePr>
            <a:graphicFrameLocks noChangeAspect="1"/>
          </p:cNvGraphicFramePr>
          <p:nvPr>
            <p:custDataLst>
              <p:tags r:id="rId1"/>
            </p:custDataLst>
            <p:extLst>
              <p:ext uri="{D42A27DB-BD31-4B8C-83A1-F6EECF244321}">
                <p14:modId xmlns:p14="http://schemas.microsoft.com/office/powerpoint/2010/main" val="3508630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8" imgH="278" progId="TCLayout.ActiveDocument.1">
                  <p:embed/>
                </p:oleObj>
              </mc:Choice>
              <mc:Fallback>
                <p:oleObj name="think-cell Slide" r:id="rId4" imgW="278" imgH="27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object 2"/>
          <p:cNvSpPr txBox="1">
            <a:spLocks noGrp="1"/>
          </p:cNvSpPr>
          <p:nvPr>
            <p:ph type="title"/>
          </p:nvPr>
        </p:nvSpPr>
        <p:spPr>
          <a:xfrm>
            <a:off x="456386" y="232994"/>
            <a:ext cx="8382813" cy="320601"/>
          </a:xfrm>
          <a:prstGeom prst="rect">
            <a:avLst/>
          </a:prstGeom>
        </p:spPr>
        <p:txBody>
          <a:bodyPr vert="horz" wrap="square" lIns="0" tIns="12700" rIns="0" bIns="0" rtlCol="0">
            <a:spAutoFit/>
          </a:bodyPr>
          <a:lstStyle/>
          <a:p>
            <a:pPr marL="12700">
              <a:lnSpc>
                <a:spcPct val="100000"/>
              </a:lnSpc>
              <a:spcBef>
                <a:spcPts val="100"/>
              </a:spcBef>
            </a:pPr>
            <a:r>
              <a:rPr lang="en-AU" sz="2000" spc="-10" dirty="0"/>
              <a:t>Overview of Key Digital Trends</a:t>
            </a:r>
          </a:p>
        </p:txBody>
      </p:sp>
      <p:graphicFrame>
        <p:nvGraphicFramePr>
          <p:cNvPr id="7" name="Table 7">
            <a:extLst>
              <a:ext uri="{FF2B5EF4-FFF2-40B4-BE49-F238E27FC236}">
                <a16:creationId xmlns:a16="http://schemas.microsoft.com/office/drawing/2014/main" id="{10226C9A-1B21-462E-B974-3EC6C59AEEC8}"/>
              </a:ext>
            </a:extLst>
          </p:cNvPr>
          <p:cNvGraphicFramePr>
            <a:graphicFrameLocks noGrp="1"/>
          </p:cNvGraphicFramePr>
          <p:nvPr>
            <p:extLst>
              <p:ext uri="{D42A27DB-BD31-4B8C-83A1-F6EECF244321}">
                <p14:modId xmlns:p14="http://schemas.microsoft.com/office/powerpoint/2010/main" val="1418686023"/>
              </p:ext>
            </p:extLst>
          </p:nvPr>
        </p:nvGraphicFramePr>
        <p:xfrm>
          <a:off x="466546" y="768350"/>
          <a:ext cx="6020614" cy="3608388"/>
        </p:xfrm>
        <a:graphic>
          <a:graphicData uri="http://schemas.openxmlformats.org/drawingml/2006/table">
            <a:tbl>
              <a:tblPr firstRow="1" bandRow="1">
                <a:tableStyleId>{5C22544A-7EE6-4342-B048-85BDC9FD1C3A}</a:tableStyleId>
              </a:tblPr>
              <a:tblGrid>
                <a:gridCol w="1448669">
                  <a:extLst>
                    <a:ext uri="{9D8B030D-6E8A-4147-A177-3AD203B41FA5}">
                      <a16:colId xmlns:a16="http://schemas.microsoft.com/office/drawing/2014/main" val="2924510235"/>
                    </a:ext>
                  </a:extLst>
                </a:gridCol>
                <a:gridCol w="4571945">
                  <a:extLst>
                    <a:ext uri="{9D8B030D-6E8A-4147-A177-3AD203B41FA5}">
                      <a16:colId xmlns:a16="http://schemas.microsoft.com/office/drawing/2014/main" val="1556547124"/>
                    </a:ext>
                  </a:extLst>
                </a:gridCol>
              </a:tblGrid>
              <a:tr h="225673">
                <a:tc>
                  <a:txBody>
                    <a:bodyPr/>
                    <a:lstStyle/>
                    <a:p>
                      <a:r>
                        <a:rPr lang="en-AU" sz="1000" dirty="0">
                          <a:latin typeface="Arial" panose="020B0604020202020204" pitchFamily="34" charset="0"/>
                          <a:cs typeface="Arial" panose="020B0604020202020204" pitchFamily="34" charset="0"/>
                        </a:rPr>
                        <a:t>Trend</a:t>
                      </a:r>
                    </a:p>
                  </a:txBody>
                  <a:tcPr marL="45720" marR="45720">
                    <a:lnR w="12700" cap="flat" cmpd="sng" algn="ctr">
                      <a:noFill/>
                      <a:prstDash val="solid"/>
                      <a:round/>
                      <a:headEnd type="none" w="med" len="med"/>
                      <a:tailEnd type="none" w="med" len="med"/>
                    </a:lnR>
                    <a:solidFill>
                      <a:srgbClr val="094D80"/>
                    </a:solidFill>
                  </a:tcPr>
                </a:tc>
                <a:tc>
                  <a:txBody>
                    <a:bodyPr/>
                    <a:lstStyle/>
                    <a:p>
                      <a:r>
                        <a:rPr lang="en-AU" sz="1000" dirty="0">
                          <a:latin typeface="Arial" panose="020B0604020202020204" pitchFamily="34" charset="0"/>
                          <a:cs typeface="Arial" panose="020B0604020202020204" pitchFamily="34" charset="0"/>
                        </a:rPr>
                        <a:t>Description</a:t>
                      </a:r>
                    </a:p>
                  </a:txBody>
                  <a:tcPr marL="45720" marR="45720">
                    <a:lnL w="12700" cap="flat" cmpd="sng" algn="ctr">
                      <a:noFill/>
                      <a:prstDash val="solid"/>
                      <a:round/>
                      <a:headEnd type="none" w="med" len="med"/>
                      <a:tailEnd type="none" w="med" len="med"/>
                    </a:lnL>
                    <a:solidFill>
                      <a:srgbClr val="094D80"/>
                    </a:solidFill>
                  </a:tcPr>
                </a:tc>
                <a:extLst>
                  <a:ext uri="{0D108BD9-81ED-4DB2-BD59-A6C34878D82A}">
                    <a16:rowId xmlns:a16="http://schemas.microsoft.com/office/drawing/2014/main" val="1541121169"/>
                  </a:ext>
                </a:extLst>
              </a:tr>
              <a:tr h="828040">
                <a:tc>
                  <a:txBody>
                    <a:bodyPr/>
                    <a:lstStyle/>
                    <a:p>
                      <a:r>
                        <a:rPr lang="en-AU" sz="1000" b="1" dirty="0">
                          <a:solidFill>
                            <a:srgbClr val="094D80"/>
                          </a:solidFill>
                          <a:latin typeface="Arial" panose="020B0604020202020204" pitchFamily="34" charset="0"/>
                          <a:cs typeface="Arial" panose="020B0604020202020204" pitchFamily="34" charset="0"/>
                        </a:rPr>
                        <a:t>Digital Financial Ecosystems of </a:t>
                      </a:r>
                      <a:br>
                        <a:rPr lang="en-AU" sz="1000" b="1" dirty="0">
                          <a:solidFill>
                            <a:srgbClr val="094D80"/>
                          </a:solidFill>
                          <a:latin typeface="Arial" panose="020B0604020202020204" pitchFamily="34" charset="0"/>
                          <a:cs typeface="Arial" panose="020B0604020202020204" pitchFamily="34" charset="0"/>
                        </a:rPr>
                      </a:br>
                      <a:r>
                        <a:rPr lang="en-AU" sz="1000" b="1" dirty="0">
                          <a:solidFill>
                            <a:srgbClr val="094D80"/>
                          </a:solidFill>
                          <a:latin typeface="Arial" panose="020B0604020202020204" pitchFamily="34" charset="0"/>
                          <a:cs typeface="Arial" panose="020B0604020202020204" pitchFamily="34" charset="0"/>
                        </a:rPr>
                        <a:t>Tech Giants</a:t>
                      </a:r>
                    </a:p>
                  </a:txBody>
                  <a:tcPr marL="45720" marR="45720">
                    <a:lnB w="12700" cap="flat" cmpd="sng" algn="ctr">
                      <a:solidFill>
                        <a:schemeClr val="bg1">
                          <a:lumMod val="75000"/>
                        </a:schemeClr>
                      </a:solidFill>
                      <a:prstDash val="solid"/>
                      <a:round/>
                      <a:headEnd type="none" w="med" len="med"/>
                      <a:tailEnd type="none" w="med" len="med"/>
                    </a:lnB>
                    <a:noFill/>
                  </a:tcPr>
                </a:tc>
                <a:tc>
                  <a:txBody>
                    <a:bodyPr/>
                    <a:lstStyle/>
                    <a:p>
                      <a:pPr marL="171450" indent="-171450">
                        <a:lnSpc>
                          <a:spcPct val="105000"/>
                        </a:lnSpc>
                        <a:spcBef>
                          <a:spcPts val="100"/>
                        </a:spcBef>
                        <a:spcAft>
                          <a:spcPts val="100"/>
                        </a:spcAft>
                        <a:buFont typeface="Wingdings" panose="05000000000000000000" pitchFamily="2" charset="2"/>
                        <a:buChar char="§"/>
                      </a:pPr>
                      <a:r>
                        <a:rPr lang="en-AU" sz="1000" dirty="0">
                          <a:solidFill>
                            <a:schemeClr val="tx1"/>
                          </a:solidFill>
                          <a:latin typeface="Arial" panose="020B0604020202020204" pitchFamily="34" charset="0"/>
                          <a:cs typeface="Arial" panose="020B0604020202020204" pitchFamily="34" charset="0"/>
                        </a:rPr>
                        <a:t>The digital financial platform that are operated on the internet are made possible by the tech infrastructure provided by the big tech giants that they have created to aid in their day to day operations.</a:t>
                      </a:r>
                    </a:p>
                  </a:txBody>
                  <a:tcPr marL="45720" marR="45720">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377938"/>
                  </a:ext>
                </a:extLst>
              </a:tr>
              <a:tr h="828040">
                <a:tc>
                  <a:txBody>
                    <a:bodyPr/>
                    <a:lstStyle/>
                    <a:p>
                      <a:r>
                        <a:rPr lang="en-AU" sz="1000" b="1" dirty="0">
                          <a:solidFill>
                            <a:srgbClr val="094D80"/>
                          </a:solidFill>
                          <a:latin typeface="Arial" panose="020B0604020202020204" pitchFamily="34" charset="0"/>
                          <a:cs typeface="Arial" panose="020B0604020202020204" pitchFamily="34" charset="0"/>
                        </a:rPr>
                        <a:t>Digital Distribution </a:t>
                      </a:r>
                    </a:p>
                  </a:txBody>
                  <a:tcPr marL="45720" marR="4572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171450" marR="0" lvl="0" indent="-171450" defTabSz="914400" eaLnBrk="1" fontAlgn="auto" latinLnBrk="0" hangingPunct="1">
                        <a:lnSpc>
                          <a:spcPct val="105000"/>
                        </a:lnSpc>
                        <a:spcBef>
                          <a:spcPts val="100"/>
                        </a:spcBef>
                        <a:spcAft>
                          <a:spcPts val="100"/>
                        </a:spcAft>
                        <a:buClrTx/>
                        <a:buSzTx/>
                        <a:buFont typeface="Wingdings" panose="05000000000000000000" pitchFamily="2" charset="2"/>
                        <a:buChar char="§"/>
                        <a:tabLst/>
                        <a:defRPr/>
                      </a:pPr>
                      <a:r>
                        <a:rPr lang="en-AU" sz="1000" dirty="0">
                          <a:solidFill>
                            <a:schemeClr val="tx1"/>
                          </a:solidFill>
                          <a:latin typeface="Arial" panose="020B0604020202020204" pitchFamily="34" charset="0"/>
                          <a:cs typeface="Arial" panose="020B0604020202020204" pitchFamily="34" charset="0"/>
                        </a:rPr>
                        <a:t>Across the APAC, China and India are riding the digital wave when it comes to fund distribution.</a:t>
                      </a:r>
                    </a:p>
                    <a:p>
                      <a:pPr marL="171450" marR="0" lvl="0" indent="-171450" defTabSz="914400" eaLnBrk="1" fontAlgn="auto" latinLnBrk="0" hangingPunct="1">
                        <a:lnSpc>
                          <a:spcPct val="105000"/>
                        </a:lnSpc>
                        <a:spcBef>
                          <a:spcPts val="100"/>
                        </a:spcBef>
                        <a:spcAft>
                          <a:spcPts val="100"/>
                        </a:spcAft>
                        <a:buClrTx/>
                        <a:buSzTx/>
                        <a:buFont typeface="Wingdings" panose="05000000000000000000" pitchFamily="2" charset="2"/>
                        <a:buChar char="§"/>
                        <a:tabLst/>
                        <a:defRPr/>
                      </a:pPr>
                      <a:r>
                        <a:rPr lang="en-AU" sz="1000" dirty="0">
                          <a:solidFill>
                            <a:schemeClr val="tx1"/>
                          </a:solidFill>
                          <a:latin typeface="Arial" panose="020B0604020202020204" pitchFamily="34" charset="0"/>
                          <a:cs typeface="Arial" panose="020B0604020202020204" pitchFamily="34" charset="0"/>
                        </a:rPr>
                        <a:t>Two Key trends to be highlighted are </a:t>
                      </a:r>
                      <a:r>
                        <a:rPr lang="en-AU" sz="1000" dirty="0" err="1">
                          <a:solidFill>
                            <a:schemeClr val="tx1"/>
                          </a:solidFill>
                          <a:latin typeface="Arial" panose="020B0604020202020204" pitchFamily="34" charset="0"/>
                          <a:cs typeface="Arial" panose="020B0604020202020204" pitchFamily="34" charset="0"/>
                        </a:rPr>
                        <a:t>robo</a:t>
                      </a:r>
                      <a:r>
                        <a:rPr lang="en-AU" sz="1000" dirty="0">
                          <a:solidFill>
                            <a:schemeClr val="tx1"/>
                          </a:solidFill>
                          <a:latin typeface="Arial" panose="020B0604020202020204" pitchFamily="34" charset="0"/>
                          <a:cs typeface="Arial" panose="020B0604020202020204" pitchFamily="34" charset="0"/>
                        </a:rPr>
                        <a:t> advisory and virtual banking</a:t>
                      </a:r>
                    </a:p>
                  </a:txBody>
                  <a:tcPr marL="45720" marR="4572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08420133"/>
                  </a:ext>
                </a:extLst>
              </a:tr>
              <a:tr h="828040">
                <a:tc>
                  <a:txBody>
                    <a:bodyPr/>
                    <a:lstStyle/>
                    <a:p>
                      <a:r>
                        <a:rPr lang="en-AU" sz="1000" b="1" dirty="0">
                          <a:solidFill>
                            <a:srgbClr val="094D80"/>
                          </a:solidFill>
                          <a:latin typeface="Arial" panose="020B0604020202020204" pitchFamily="34" charset="0"/>
                          <a:cs typeface="Arial" panose="020B0604020202020204" pitchFamily="34" charset="0"/>
                        </a:rPr>
                        <a:t>Internet </a:t>
                      </a:r>
                      <a:r>
                        <a:rPr lang="en-AU" sz="1000" b="1" dirty="0" err="1">
                          <a:solidFill>
                            <a:srgbClr val="094D80"/>
                          </a:solidFill>
                          <a:latin typeface="Arial" panose="020B0604020202020204" pitchFamily="34" charset="0"/>
                          <a:cs typeface="Arial" panose="020B0604020202020204" pitchFamily="34" charset="0"/>
                        </a:rPr>
                        <a:t>FInance</a:t>
                      </a:r>
                      <a:endParaRPr lang="en-AU" sz="1000" b="1" dirty="0">
                        <a:solidFill>
                          <a:srgbClr val="094D80"/>
                        </a:solidFill>
                        <a:latin typeface="Arial" panose="020B0604020202020204" pitchFamily="34" charset="0"/>
                        <a:cs typeface="Arial" panose="020B0604020202020204" pitchFamily="34" charset="0"/>
                      </a:endParaRPr>
                    </a:p>
                  </a:txBody>
                  <a:tcPr marL="45720" marR="4572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171450" marR="0" lvl="0" indent="-171450" defTabSz="914400" eaLnBrk="1" fontAlgn="auto" latinLnBrk="0" hangingPunct="1">
                        <a:lnSpc>
                          <a:spcPct val="105000"/>
                        </a:lnSpc>
                        <a:spcBef>
                          <a:spcPts val="100"/>
                        </a:spcBef>
                        <a:spcAft>
                          <a:spcPts val="100"/>
                        </a:spcAft>
                        <a:buClrTx/>
                        <a:buSzTx/>
                        <a:buFont typeface="Wingdings" panose="05000000000000000000" pitchFamily="2" charset="2"/>
                        <a:buChar char="§"/>
                        <a:tabLst/>
                        <a:defRPr/>
                      </a:pPr>
                      <a:r>
                        <a:rPr lang="en-US" sz="1000" dirty="0">
                          <a:latin typeface="Arial" panose="020B0604020202020204" pitchFamily="34" charset="0"/>
                          <a:cs typeface="Arial" panose="020B0604020202020204" pitchFamily="34" charset="0"/>
                        </a:rPr>
                        <a:t>Banking reforms, such as the liberalization of interest rates, have been high on the Chinese government’s agenda. Competition within the financial services industry is likely to intensify in the years ahead as deregulation continues and Internet finance plays a larger role, and these dynamics have the potential to erode margins</a:t>
                      </a:r>
                      <a:endParaRPr kumimoji="0" lang="en-AU" sz="1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45720" marR="4572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77504755"/>
                  </a:ext>
                </a:extLst>
              </a:tr>
              <a:tr h="828040">
                <a:tc>
                  <a:txBody>
                    <a:bodyPr/>
                    <a:lstStyle/>
                    <a:p>
                      <a:r>
                        <a:rPr lang="en-AU" sz="1000" b="1" dirty="0">
                          <a:solidFill>
                            <a:srgbClr val="094D80"/>
                          </a:solidFill>
                          <a:latin typeface="Arial" panose="020B0604020202020204" pitchFamily="34" charset="0"/>
                          <a:cs typeface="Arial" panose="020B0604020202020204" pitchFamily="34" charset="0"/>
                        </a:rPr>
                        <a:t>Online Fund </a:t>
                      </a:r>
                    </a:p>
                  </a:txBody>
                  <a:tcPr marL="45720" marR="45720">
                    <a:lnT w="12700" cap="flat" cmpd="sng" algn="ctr">
                      <a:solidFill>
                        <a:schemeClr val="bg1">
                          <a:lumMod val="75000"/>
                        </a:schemeClr>
                      </a:solidFill>
                      <a:prstDash val="solid"/>
                      <a:round/>
                      <a:headEnd type="none" w="med" len="med"/>
                      <a:tailEnd type="none" w="med" len="med"/>
                    </a:lnT>
                    <a:noFill/>
                  </a:tcPr>
                </a:tc>
                <a:tc>
                  <a:txBody>
                    <a:bodyPr/>
                    <a:lstStyle/>
                    <a:p>
                      <a:pPr marL="171450" marR="0" lvl="0" indent="-171450" defTabSz="914400" eaLnBrk="1" fontAlgn="auto" latinLnBrk="0" hangingPunct="1">
                        <a:lnSpc>
                          <a:spcPct val="105000"/>
                        </a:lnSpc>
                        <a:spcBef>
                          <a:spcPts val="100"/>
                        </a:spcBef>
                        <a:spcAft>
                          <a:spcPts val="100"/>
                        </a:spcAft>
                        <a:buClrTx/>
                        <a:buSzTx/>
                        <a:buFont typeface="Wingdings" panose="05000000000000000000" pitchFamily="2" charset="2"/>
                        <a:buChar char="§"/>
                        <a:tabLst/>
                        <a:defRPr/>
                      </a:pPr>
                      <a:r>
                        <a:rPr lang="en-US" sz="1000" dirty="0">
                          <a:latin typeface="Arial" panose="020B0604020202020204" pitchFamily="34" charset="0"/>
                          <a:cs typeface="Arial" panose="020B0604020202020204" pitchFamily="34" charset="0"/>
                        </a:rPr>
                        <a:t>Fund companies in China that distribute products on online platform </a:t>
                      </a:r>
                      <a:r>
                        <a:rPr lang="en-US" sz="1000" dirty="0" err="1">
                          <a:latin typeface="Arial" panose="020B0604020202020204" pitchFamily="34" charset="0"/>
                          <a:cs typeface="Arial" panose="020B0604020202020204" pitchFamily="34" charset="0"/>
                        </a:rPr>
                        <a:t>Caifuhao</a:t>
                      </a:r>
                      <a:r>
                        <a:rPr lang="en-US" sz="1000" dirty="0">
                          <a:latin typeface="Arial" panose="020B0604020202020204" pitchFamily="34" charset="0"/>
                          <a:cs typeface="Arial" panose="020B0604020202020204" pitchFamily="34" charset="0"/>
                        </a:rPr>
                        <a:t> have collectively attracted 120 million followers, according to a statement from Ant Financial </a:t>
                      </a:r>
                      <a:r>
                        <a:rPr lang="en-US" sz="1000" dirty="0" err="1">
                          <a:latin typeface="Arial" panose="020B0604020202020204" pitchFamily="34" charset="0"/>
                          <a:cs typeface="Arial" panose="020B0604020202020204" pitchFamily="34" charset="0"/>
                        </a:rPr>
                        <a:t>Financial</a:t>
                      </a:r>
                      <a:r>
                        <a:rPr lang="en-US" sz="1000" dirty="0">
                          <a:latin typeface="Arial" panose="020B0604020202020204" pitchFamily="34" charset="0"/>
                          <a:cs typeface="Arial" panose="020B0604020202020204" pitchFamily="34" charset="0"/>
                        </a:rPr>
                        <a:t> Services Group.</a:t>
                      </a:r>
                      <a:endParaRPr kumimoji="0" lang="en-AU" sz="10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45720" marR="45720">
                    <a:lnT w="12700"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2847245767"/>
                  </a:ext>
                </a:extLst>
              </a:tr>
            </a:tbl>
          </a:graphicData>
        </a:graphic>
      </p:graphicFrame>
      <p:sp>
        <p:nvSpPr>
          <p:cNvPr id="17" name="Speech Bubble: Rectangle 16">
            <a:extLst>
              <a:ext uri="{FF2B5EF4-FFF2-40B4-BE49-F238E27FC236}">
                <a16:creationId xmlns:a16="http://schemas.microsoft.com/office/drawing/2014/main" id="{B4B400A9-1C3F-4130-A515-E81A17BFE543}"/>
              </a:ext>
            </a:extLst>
          </p:cNvPr>
          <p:cNvSpPr/>
          <p:nvPr/>
        </p:nvSpPr>
        <p:spPr bwMode="auto">
          <a:xfrm>
            <a:off x="-3581400" y="977671"/>
            <a:ext cx="3513250" cy="2031325"/>
          </a:xfrm>
          <a:prstGeom prst="wedgeRectCallout">
            <a:avLst>
              <a:gd name="adj1" fmla="val 64061"/>
              <a:gd name="adj2" fmla="val 24515"/>
            </a:avLst>
          </a:prstGeom>
          <a:solidFill>
            <a:schemeClr val="accent1"/>
          </a:solidFill>
          <a:ln w="63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58838" rtl="0" eaLnBrk="0" fontAlgn="base" latinLnBrk="0" hangingPunct="0">
              <a:lnSpc>
                <a:spcPct val="100000"/>
              </a:lnSpc>
              <a:spcBef>
                <a:spcPct val="50000"/>
              </a:spcBef>
              <a:spcAft>
                <a:spcPct val="0"/>
              </a:spcAft>
              <a:buClrTx/>
              <a:buSzTx/>
              <a:buFontTx/>
              <a:buNone/>
              <a:tabLst/>
            </a:pPr>
            <a:r>
              <a:rPr lang="en-AU" sz="1400" dirty="0">
                <a:solidFill>
                  <a:schemeClr val="bg1"/>
                </a:solidFill>
                <a:latin typeface="Arial" charset="0"/>
              </a:rPr>
              <a:t>Review the PwC Report, McKinsey Report and Fund Selector Asia Article to uncover 3 other trends.</a:t>
            </a:r>
          </a:p>
          <a:p>
            <a:pPr marL="0" marR="0" indent="0" algn="ctr" defTabSz="858838" rtl="0" eaLnBrk="0" fontAlgn="base" latinLnBrk="0" hangingPunct="0">
              <a:lnSpc>
                <a:spcPct val="100000"/>
              </a:lnSpc>
              <a:spcBef>
                <a:spcPct val="50000"/>
              </a:spcBef>
              <a:spcAft>
                <a:spcPct val="0"/>
              </a:spcAft>
              <a:buClrTx/>
              <a:buSzTx/>
              <a:buFontTx/>
              <a:buNone/>
              <a:tabLst/>
            </a:pPr>
            <a:endParaRPr lang="en-AU" sz="1400" dirty="0">
              <a:solidFill>
                <a:schemeClr val="bg1"/>
              </a:solidFill>
              <a:latin typeface="Arial" charset="0"/>
            </a:endParaRPr>
          </a:p>
          <a:p>
            <a:pPr marL="0" marR="0" indent="0" algn="ctr" defTabSz="858838" rtl="0" eaLnBrk="0" fontAlgn="base" latinLnBrk="0" hangingPunct="0">
              <a:lnSpc>
                <a:spcPct val="100000"/>
              </a:lnSpc>
              <a:spcBef>
                <a:spcPct val="50000"/>
              </a:spcBef>
              <a:spcAft>
                <a:spcPct val="0"/>
              </a:spcAft>
              <a:buClrTx/>
              <a:buSzTx/>
              <a:buFontTx/>
              <a:buNone/>
              <a:tabLst/>
            </a:pPr>
            <a:r>
              <a:rPr lang="en-AU" sz="1400" dirty="0">
                <a:solidFill>
                  <a:schemeClr val="bg1"/>
                </a:solidFill>
                <a:latin typeface="Arial" charset="0"/>
              </a:rPr>
              <a:t>HINT: Trend 12 in the PwC Report and the Financial Services section of the McKinsey Report are critical, along with the Fund Selector Asia article</a:t>
            </a:r>
          </a:p>
        </p:txBody>
      </p:sp>
      <p:sp>
        <p:nvSpPr>
          <p:cNvPr id="19" name="object 8">
            <a:extLst>
              <a:ext uri="{FF2B5EF4-FFF2-40B4-BE49-F238E27FC236}">
                <a16:creationId xmlns:a16="http://schemas.microsoft.com/office/drawing/2014/main" id="{725489DE-F93A-4E41-9FEF-BC62ECF78DAC}"/>
              </a:ext>
            </a:extLst>
          </p:cNvPr>
          <p:cNvSpPr txBox="1"/>
          <p:nvPr/>
        </p:nvSpPr>
        <p:spPr>
          <a:xfrm>
            <a:off x="6758416" y="727035"/>
            <a:ext cx="2187918" cy="228909"/>
          </a:xfrm>
          <a:prstGeom prst="rect">
            <a:avLst/>
          </a:prstGeom>
        </p:spPr>
        <p:txBody>
          <a:bodyPr vert="horz" wrap="square" lIns="0" tIns="13335" rIns="0" bIns="0" rtlCol="0">
            <a:spAutoFit/>
          </a:bodyPr>
          <a:lstStyle/>
          <a:p>
            <a:pPr marL="12700">
              <a:lnSpc>
                <a:spcPct val="100000"/>
              </a:lnSpc>
              <a:spcBef>
                <a:spcPts val="105"/>
              </a:spcBef>
            </a:pPr>
            <a:r>
              <a:rPr lang="en-AU" sz="1400" b="1" dirty="0">
                <a:solidFill>
                  <a:srgbClr val="094D80"/>
                </a:solidFill>
                <a:latin typeface="Arial"/>
                <a:cs typeface="Arial"/>
              </a:rPr>
              <a:t>Commentary</a:t>
            </a:r>
            <a:endParaRPr sz="1400" dirty="0">
              <a:latin typeface="Arial"/>
              <a:cs typeface="Arial"/>
            </a:endParaRPr>
          </a:p>
        </p:txBody>
      </p:sp>
      <p:sp>
        <p:nvSpPr>
          <p:cNvPr id="20" name="bg object 16">
            <a:extLst>
              <a:ext uri="{FF2B5EF4-FFF2-40B4-BE49-F238E27FC236}">
                <a16:creationId xmlns:a16="http://schemas.microsoft.com/office/drawing/2014/main" id="{EFCB39BF-AB75-42D2-BAA3-D3723E73632E}"/>
              </a:ext>
            </a:extLst>
          </p:cNvPr>
          <p:cNvSpPr/>
          <p:nvPr/>
        </p:nvSpPr>
        <p:spPr>
          <a:xfrm rot="16200000">
            <a:off x="4843008" y="2570127"/>
            <a:ext cx="3677984" cy="45266"/>
          </a:xfrm>
          <a:custGeom>
            <a:avLst/>
            <a:gdLst/>
            <a:ahLst/>
            <a:cxnLst/>
            <a:rect l="l" t="t" r="r" b="b"/>
            <a:pathLst>
              <a:path w="9144000">
                <a:moveTo>
                  <a:pt x="0" y="0"/>
                </a:moveTo>
                <a:lnTo>
                  <a:pt x="9144000" y="0"/>
                </a:lnTo>
              </a:path>
            </a:pathLst>
          </a:custGeom>
          <a:ln w="9144">
            <a:solidFill>
              <a:srgbClr val="094D80"/>
            </a:solidFill>
          </a:ln>
        </p:spPr>
        <p:txBody>
          <a:bodyPr wrap="square" lIns="0" tIns="0" rIns="0" bIns="0" rtlCol="0"/>
          <a:lstStyle/>
          <a:p>
            <a:endParaRPr/>
          </a:p>
        </p:txBody>
      </p:sp>
      <p:sp>
        <p:nvSpPr>
          <p:cNvPr id="3" name="TextBox 2">
            <a:extLst>
              <a:ext uri="{FF2B5EF4-FFF2-40B4-BE49-F238E27FC236}">
                <a16:creationId xmlns:a16="http://schemas.microsoft.com/office/drawing/2014/main" id="{E946C2C8-C87C-48F0-B0DB-FE1BC0DE46A8}"/>
              </a:ext>
            </a:extLst>
          </p:cNvPr>
          <p:cNvSpPr txBox="1"/>
          <p:nvPr/>
        </p:nvSpPr>
        <p:spPr>
          <a:xfrm>
            <a:off x="6758416" y="1037944"/>
            <a:ext cx="2187918" cy="2172069"/>
          </a:xfrm>
          <a:prstGeom prst="rect">
            <a:avLst/>
          </a:prstGeom>
          <a:noFill/>
        </p:spPr>
        <p:txBody>
          <a:bodyPr wrap="square" rtlCol="0">
            <a:spAutoFit/>
          </a:bodyPr>
          <a:lstStyle/>
          <a:p>
            <a:pPr>
              <a:lnSpc>
                <a:spcPct val="110000"/>
              </a:lnSpc>
              <a:spcBef>
                <a:spcPts val="200"/>
              </a:spcBef>
              <a:spcAft>
                <a:spcPts val="400"/>
              </a:spcAft>
            </a:pPr>
            <a:r>
              <a:rPr lang="en-AU" sz="1000" dirty="0">
                <a:latin typeface="Arial" panose="020B0604020202020204" pitchFamily="34" charset="0"/>
                <a:cs typeface="Arial" panose="020B0604020202020204" pitchFamily="34" charset="0"/>
              </a:rPr>
              <a:t>The Sales &amp; Marketing team can leverage key digital trends in regional fund management by:</a:t>
            </a:r>
          </a:p>
          <a:p>
            <a:pPr marL="171450" indent="-171450">
              <a:lnSpc>
                <a:spcPct val="110000"/>
              </a:lnSpc>
              <a:spcBef>
                <a:spcPts val="200"/>
              </a:spcBef>
              <a:spcAft>
                <a:spcPts val="400"/>
              </a:spcAft>
              <a:buFont typeface="Wingdings" panose="05000000000000000000" pitchFamily="2" charset="2"/>
              <a:buChar char="§"/>
            </a:pPr>
            <a:r>
              <a:rPr lang="en-AU" sz="1000" dirty="0">
                <a:latin typeface="Arial" panose="020B0604020202020204" pitchFamily="34" charset="0"/>
                <a:cs typeface="Arial" panose="020B0604020202020204" pitchFamily="34" charset="0"/>
              </a:rPr>
              <a:t>Invest in the sectors and companies that provide support to such trends </a:t>
            </a:r>
          </a:p>
          <a:p>
            <a:pPr marL="171450" indent="-171450">
              <a:lnSpc>
                <a:spcPct val="110000"/>
              </a:lnSpc>
              <a:spcBef>
                <a:spcPts val="200"/>
              </a:spcBef>
              <a:spcAft>
                <a:spcPts val="400"/>
              </a:spcAft>
              <a:buFont typeface="Wingdings" panose="05000000000000000000" pitchFamily="2" charset="2"/>
              <a:buChar char="§"/>
            </a:pPr>
            <a:r>
              <a:rPr lang="en-AU" sz="1000" dirty="0">
                <a:latin typeface="Arial" panose="020B0604020202020204" pitchFamily="34" charset="0"/>
                <a:cs typeface="Arial" panose="020B0604020202020204" pitchFamily="34" charset="0"/>
              </a:rPr>
              <a:t>Allocate the portfolio according to the trend line in the market</a:t>
            </a:r>
          </a:p>
          <a:p>
            <a:pPr marL="171450" indent="-171450">
              <a:lnSpc>
                <a:spcPct val="110000"/>
              </a:lnSpc>
              <a:spcBef>
                <a:spcPts val="200"/>
              </a:spcBef>
              <a:spcAft>
                <a:spcPts val="400"/>
              </a:spcAft>
              <a:buFont typeface="Wingdings" panose="05000000000000000000" pitchFamily="2" charset="2"/>
              <a:buChar char="§"/>
            </a:pPr>
            <a:r>
              <a:rPr lang="en-AU" sz="1000" dirty="0">
                <a:latin typeface="Arial" panose="020B0604020202020204" pitchFamily="34" charset="0"/>
                <a:cs typeface="Arial" panose="020B0604020202020204" pitchFamily="34" charset="0"/>
              </a:rPr>
              <a:t>Use trends to find upcoming markets to invest and divest in </a:t>
            </a:r>
            <a:r>
              <a:rPr lang="en-AU" sz="1000" dirty="0" err="1">
                <a:latin typeface="Arial" panose="020B0604020202020204" pitchFamily="34" charset="0"/>
                <a:cs typeface="Arial" panose="020B0604020202020204" pitchFamily="34" charset="0"/>
              </a:rPr>
              <a:t>downfalling</a:t>
            </a:r>
            <a:r>
              <a:rPr lang="en-AU" sz="1000" dirty="0">
                <a:latin typeface="Arial" panose="020B0604020202020204" pitchFamily="34" charset="0"/>
                <a:cs typeface="Arial" panose="020B0604020202020204" pitchFamily="34" charset="0"/>
              </a:rPr>
              <a:t> markets</a:t>
            </a:r>
          </a:p>
        </p:txBody>
      </p:sp>
      <p:sp>
        <p:nvSpPr>
          <p:cNvPr id="22" name="Speech Bubble: Rectangle 21">
            <a:extLst>
              <a:ext uri="{FF2B5EF4-FFF2-40B4-BE49-F238E27FC236}">
                <a16:creationId xmlns:a16="http://schemas.microsoft.com/office/drawing/2014/main" id="{ADFB4E58-C515-40F5-AE8A-8D07092DA69C}"/>
              </a:ext>
            </a:extLst>
          </p:cNvPr>
          <p:cNvSpPr/>
          <p:nvPr/>
        </p:nvSpPr>
        <p:spPr bwMode="auto">
          <a:xfrm>
            <a:off x="-2438400" y="3562350"/>
            <a:ext cx="1989704" cy="1384995"/>
          </a:xfrm>
          <a:prstGeom prst="wedgeRectCallout">
            <a:avLst>
              <a:gd name="adj1" fmla="val -21686"/>
              <a:gd name="adj2" fmla="val -76720"/>
            </a:avLst>
          </a:prstGeom>
          <a:solidFill>
            <a:schemeClr val="accent1"/>
          </a:solidFill>
          <a:ln w="63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858838" rtl="0" eaLnBrk="0" fontAlgn="base" latinLnBrk="0" hangingPunct="0">
              <a:lnSpc>
                <a:spcPct val="100000"/>
              </a:lnSpc>
              <a:spcBef>
                <a:spcPct val="50000"/>
              </a:spcBef>
              <a:spcAft>
                <a:spcPct val="0"/>
              </a:spcAft>
              <a:buClrTx/>
              <a:buSzTx/>
              <a:buFontTx/>
              <a:buNone/>
              <a:tabLst/>
            </a:pPr>
            <a:r>
              <a:rPr lang="en-AU" sz="1400" dirty="0">
                <a:solidFill>
                  <a:schemeClr val="bg1"/>
                </a:solidFill>
                <a:latin typeface="Arial" charset="0"/>
              </a:rPr>
              <a:t>Provide a suggestion of how the Sales &amp; Marketing team can capitalise on key digital trends to better serve clients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15363"/>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300</Words>
  <Application>Microsoft Office PowerPoint</Application>
  <PresentationFormat>On-screen Show (16:9)</PresentationFormat>
  <Paragraphs>23</Paragraphs>
  <Slides>2</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7" baseType="lpstr">
      <vt:lpstr>Arial</vt:lpstr>
      <vt:lpstr>Calibri</vt:lpstr>
      <vt:lpstr>Wingdings</vt:lpstr>
      <vt:lpstr>Office Theme</vt:lpstr>
      <vt:lpstr>think-cell Slide</vt:lpstr>
      <vt:lpstr>PowerPoint Presentation</vt:lpstr>
      <vt:lpstr>Overview of Key Digital Trends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2021-05-22T14:58:10Z</dcterms:created>
  <dcterms:modified xsi:type="dcterms:W3CDTF">2025-01-09T12:55:26Z</dcterms:modified>
</cp:coreProperties>
</file>